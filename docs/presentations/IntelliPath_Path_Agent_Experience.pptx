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gif" ContentType="image/gif"/>
</Types>
</file>

<file path=_rels/.rels>&#65279;<?xml version="1.0" encoding="utf-8"?><Relationships xmlns="http://schemas.openxmlformats.org/package/2006/relationships"><Relationship Type="http://schemas.openxmlformats.org/package/2006/relationships/metadata/core-properties" Target="/docProps/core.xml" Id="Rc4397661091a44eb" /><Relationship Type="http://schemas.openxmlformats.org/officeDocument/2006/relationships/extended-properties" Target="/docProps/app.xml" Id="R87f3f46c412c4948" /><Relationship Type="http://schemas.openxmlformats.org/officeDocument/2006/relationships/officeDocument" Target="/ppt/presentation.xml" Id="Rf0a96edfa57549c7" /></Relationships>
</file>

<file path=ppt/presentation.xml><?xml version="1.0" encoding="utf-8"?>
<p:presentation xmlns:p="http://schemas.openxmlformats.org/presentationml/2006/main">
  <p:sldMasterIdLst>
    <p:sldMasterId xmlns:r="http://schemas.openxmlformats.org/officeDocument/2006/relationships" id="2147483648" r:id="Rd478669a558e4a2a"/>
  </p:sldMasterIdLst>
  <p:notesMasterIdLst>
    <p:notesMasterId xmlns:r="http://schemas.openxmlformats.org/officeDocument/2006/relationships" r:id="R73e3fbe557c0497c"/>
  </p:notesMasterIdLst>
  <p:sldIdLst>
    <p:sldId xmlns:r="http://schemas.openxmlformats.org/officeDocument/2006/relationships" id="256" r:id="R52a565b6341c47cd"/>
    <p:sldId xmlns:r="http://schemas.openxmlformats.org/officeDocument/2006/relationships" id="257" r:id="Rc839d4ce80734779"/>
    <p:sldId xmlns:r="http://schemas.openxmlformats.org/officeDocument/2006/relationships" id="258" r:id="Ra80ddcb66f784769"/>
    <p:sldId xmlns:r="http://schemas.openxmlformats.org/officeDocument/2006/relationships" id="259" r:id="R44fcdcc607b6478d"/>
    <p:sldId xmlns:r="http://schemas.openxmlformats.org/officeDocument/2006/relationships" id="260" r:id="Rbb7ae2094cd8402c"/>
    <p:sldId xmlns:r="http://schemas.openxmlformats.org/officeDocument/2006/relationships" id="261" r:id="Rbeda288be1704144"/>
    <p:sldId xmlns:r="http://schemas.openxmlformats.org/officeDocument/2006/relationships" id="262" r:id="R1321475cab044013"/>
    <p:sldId xmlns:r="http://schemas.openxmlformats.org/officeDocument/2006/relationships" id="263" r:id="R1fe8f823d6ea42d1"/>
    <p:sldId xmlns:r="http://schemas.openxmlformats.org/officeDocument/2006/relationships" id="264" r:id="R9e018a0f1c9e45fa"/>
    <p:sldId xmlns:r="http://schemas.openxmlformats.org/officeDocument/2006/relationships" id="265" r:id="Rcb2bbf81af284c3f"/>
    <p:sldId xmlns:r="http://schemas.openxmlformats.org/officeDocument/2006/relationships" id="266" r:id="R5000fa73cb49454a"/>
    <p:sldId xmlns:r="http://schemas.openxmlformats.org/officeDocument/2006/relationships" id="267" r:id="R39b84612768047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8c358eb69d446d" /><Relationship Type="http://schemas.openxmlformats.org/officeDocument/2006/relationships/slideMaster" Target="/ppt/slideMasters/slideMaster1.xml" Id="Rd478669a558e4a2a" /><Relationship Type="http://schemas.openxmlformats.org/officeDocument/2006/relationships/notesMaster" Target="/ppt/notesMasters/notesMaster1.xml" Id="R73e3fbe557c0497c" /><Relationship Type="http://schemas.openxmlformats.org/officeDocument/2006/relationships/presProps" Target="/ppt/presProps.xml" Id="Rc9bfbeaed4f94706" /><Relationship Type="http://schemas.openxmlformats.org/officeDocument/2006/relationships/tableStyles" Target="/ppt/tableStyles.xml" Id="R5137f04608d34f91" /><Relationship Type="http://schemas.openxmlformats.org/officeDocument/2006/relationships/slide" Target="/ppt/slides/slide1.xml" Id="R52a565b6341c47cd" /><Relationship Type="http://schemas.openxmlformats.org/officeDocument/2006/relationships/slide" Target="/ppt/slides/slide2.xml" Id="Rc839d4ce80734779" /><Relationship Type="http://schemas.openxmlformats.org/officeDocument/2006/relationships/slide" Target="/ppt/slides/slide3.xml" Id="Ra80ddcb66f784769" /><Relationship Type="http://schemas.openxmlformats.org/officeDocument/2006/relationships/slide" Target="/ppt/slides/slide4.xml" Id="R44fcdcc607b6478d" /><Relationship Type="http://schemas.openxmlformats.org/officeDocument/2006/relationships/slide" Target="/ppt/slides/slide5.xml" Id="Rbb7ae2094cd8402c" /><Relationship Type="http://schemas.openxmlformats.org/officeDocument/2006/relationships/slide" Target="/ppt/slides/slide6.xml" Id="Rbeda288be1704144" /><Relationship Type="http://schemas.openxmlformats.org/officeDocument/2006/relationships/slide" Target="/ppt/slides/slide7.xml" Id="R1321475cab044013" /><Relationship Type="http://schemas.openxmlformats.org/officeDocument/2006/relationships/slide" Target="/ppt/slides/slide8.xml" Id="R1fe8f823d6ea42d1" /><Relationship Type="http://schemas.openxmlformats.org/officeDocument/2006/relationships/slide" Target="/ppt/slides/slide9.xml" Id="R9e018a0f1c9e45fa" /><Relationship Type="http://schemas.openxmlformats.org/officeDocument/2006/relationships/slide" Target="/ppt/slides/slide10.xml" Id="Rcb2bbf81af284c3f" /><Relationship Type="http://schemas.openxmlformats.org/officeDocument/2006/relationships/slide" Target="/ppt/slides/slide11.xml" Id="R5000fa73cb49454a" /><Relationship Type="http://schemas.openxmlformats.org/officeDocument/2006/relationships/slide" Target="/ppt/slides/slide12.xml" Id="R39b84612768047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2a3681d08c4a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b0a074a6404ad0" /><Relationship Type="http://schemas.openxmlformats.org/officeDocument/2006/relationships/notesMaster" Target="/ppt/notesMasters/notesMaster1.xml" Id="R7dd1e340a4ad4e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8ab4b22e334375" /><Relationship Type="http://schemas.openxmlformats.org/officeDocument/2006/relationships/notesMaster" Target="/ppt/notesMasters/notesMaster1.xml" Id="Rd1c0de0942b5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3a575cfdb74dd0" /><Relationship Type="http://schemas.openxmlformats.org/officeDocument/2006/relationships/notesMaster" Target="/ppt/notesMasters/notesMaster1.xml" Id="Rb11a219275ed4b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2136dc88c84efb" /><Relationship Type="http://schemas.openxmlformats.org/officeDocument/2006/relationships/notesMaster" Target="/ppt/notesMasters/notesMaster1.xml" Id="R6642bc4adfcd46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99165269c841b8" /><Relationship Type="http://schemas.openxmlformats.org/officeDocument/2006/relationships/notesMaster" Target="/ppt/notesMasters/notesMaster1.xml" Id="R345a156c92bb44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4fb8f0d6524406" /><Relationship Type="http://schemas.openxmlformats.org/officeDocument/2006/relationships/notesMaster" Target="/ppt/notesMasters/notesMaster1.xml" Id="Rcaa24a65bc7d43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cbd25c030d4ef4" /><Relationship Type="http://schemas.openxmlformats.org/officeDocument/2006/relationships/notesMaster" Target="/ppt/notesMasters/notesMaster1.xml" Id="R058699e00e854b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e57a9baf0349bf" /><Relationship Type="http://schemas.openxmlformats.org/officeDocument/2006/relationships/notesMaster" Target="/ppt/notesMasters/notesMaster1.xml" Id="R1dd9ffdcc3ed44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7ecd42b6c946d7" /><Relationship Type="http://schemas.openxmlformats.org/officeDocument/2006/relationships/notesMaster" Target="/ppt/notesMasters/notesMaster1.xml" Id="Rd8041947fd2f4d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ce065fb99449ed" /><Relationship Type="http://schemas.openxmlformats.org/officeDocument/2006/relationships/notesMaster" Target="/ppt/notesMasters/notesMaster1.xml" Id="R73b12b50a5b849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f942f432e74688" /><Relationship Type="http://schemas.openxmlformats.org/officeDocument/2006/relationships/notesMaster" Target="/ppt/notesMasters/notesMaster1.xml" Id="Rf2a5bed7738a49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46b378ef484938" /><Relationship Type="http://schemas.openxmlformats.org/officeDocument/2006/relationships/notesMaster" Target="/ppt/notesMasters/notesMaster1.xml" Id="R1c8976ade2ee4d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IntelliPath is a project demonstration for finding operational resources in a maritime setting. Its workspace brings together documents, equipment, colleagues and security evidence. The fleet illustrates the five access scopes. Seatrium branding identifies the intended project context. This is not an official Seatrium corporate publication.</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Path as the product concept: connected discovery across resources and people. The moving marker visualizes the journey, not a claim of automatic execution of every step. The path is an embedded looping GIF. The stop labels and explanatory text remain editable. All data in screenshots is illustrative.</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Start on the actual search-first home page. Type a concrete query such as pump maintenance and inspect the returned resource details. This example query is illustrative, not a claim that the screenshot already contains those results. Explain that role filtering occurs before result counts and content are returned. The screenshot shows the Admin fleet.</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Agent-to-Agent handoff experience. The current product implements a local coordinator that chooses specialists and merges results; it does not yet implement autonomous sequential agent-to-agent context passing. Present the chain as the workflow vision. Device, Knowledge and People are shortened labels for Device &amp; Equipment, Engineering Knowledge and Human Resources agents. Every hop must retain the original user access scope.</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UI screenshot captured from the deployed product. The pump maintenance query selects all five local specialists. The execution trace and Found by attribution connect each result to its source agent. The screenshot displays authorized Admin results, not production incident evidence. The page includes seeded records and clearly marked source simulations.</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embedded GIF cycles from Viewer to Admin, showing one through five ships. Even fleets are symmetric. The fleet is a visual metaphor for the access hierarchy, not a count of operational vessels. The product uses role names in the interface, without L1-L7 labels. Record visibility and action permissions remain distinct. The following access matrix gives examples of actions.</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Use the actual watchlist and remediation screenshot to show how a user moves from a signal to follow-up work. An alert alone is not proof of compromise. Owners and due dates provide accountability, and a verified state requires evidence. All displayed events are demonstration data, not reports of real Seatrium incidents.</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This is an actual PDF generated by the current project report.js using isolated seeded demo data and Admin scope on 23 September 2026. The displayed first-page excerpt is unaltered. The report includes daily activity and unresolved incident, alert and remediation carryover. Current inventory is a snapshot rather than a reconstruction of historical inventory. NIST CSF functions provide the report structure, without claiming certification. The full report may contain appendices and logs depending on settings.</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Files up to 5 MB create searchable records and authenticated download entries. UTF-8 text indexing covers the first 50,000 characters, while binary files use metadata; no OCR is claimed. OneDrive is a demo destination that stores bytes locally, not a live synchronization. Teams, OneDrive, SharePoint and Exchange glyphs are Simple Icons 11.15.0 assets. Defender for Cloud and Sentinel icons are official Azure architecture assets. Provenance: docs/BRAND-ASSETS.md.</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actual workspace views distinguish indoor and outdoor work. The indoor person card uses a synthetic floor plan and room; the outdoor view uses a synthetic recorded yard location. Neither is proof of current employee presence. Internal positions are illustrative. Published site addresses provide geographic context.</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permission matrix derived from server/auth.js. All resource reads remain restricted to the role’s record scope. Admin alone has the users permission. Viewer can search and read its permitted records but cannot upload or use the AI endpoints. Higher roles have additional permissions not exhaustively shown in this matrix. Agents never widen the caller’s authorization.</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30 seconds. Invite feedback on workflow usefulness, search success, access clarity and reporting needs. Pilot readiness depends on trusted data, persistence, identity and approved integrations. These are proposed next steps, not delivery commitments. Demo URL: https://intellipath-mroh.onrender.com/. Design exploration included Gamma Marine as a dark maritime reference; the final slide layouts are authored for this project.</a:t>
            </a:r>
          </a:p>
          <a:p xmlns:a="http://schemas.openxmlformats.org/drawingml/2006/main">
            <a:r>
              <a:t/>
            </a:r>
          </a:p>
          <a:p xmlns:a="http://schemas.openxmlformats.org/drawingml/2006/main">
            <a:r>
              <a:t>Project source: https://github.com/EasonXu-HY99/intellipath, README.md, docs/RESOURCE-WORKSPACE.md, docs/OPERATIONS-V2.md and shared/access.js. UI screenshots are the actual demonstration environment, captured 23 September 2026. Official Seatrium logos: https://www.seatrium.com/assets/images/seatrium-logo.svg and https://www.seatrium.com/assets/images/seatrium-logo-white.svg. Logos retain original proportions. All maritime concept scenes are illustrative and do not depict actual Seatrium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2f725c83ad45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e5587abd2c47ab" /><Relationship Type="http://schemas.openxmlformats.org/officeDocument/2006/relationships/slideLayout" Target="/ppt/slideLayouts/slideLayout1.xml" Id="R2868480dcc0c4a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68480dcc0c4a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1.xml" Id="R1c89b58735bc4968"/><Relationship Type="http://schemas.openxmlformats.org/officeDocument/2006/relationships/image" Target="/ppt/media/image.png" Id="R277164f7f6d54665"/><Relationship Type="http://schemas.openxmlformats.org/officeDocument/2006/relationships/image" Target="/ppt/media/image2.png" Id="R699b60e8eb9f472e"/><Relationship Type="http://schemas.openxmlformats.org/officeDocument/2006/relationships/notesSlide" Target="/ppt/notesSlides/notesSlide1.xml" Id="R69996409b0d6419d"/></Relationships>
</file>

<file path=ppt/slides/_rels/slide2.xml.rels><?xml version='1.0' encoding='utf-8'?>
<Relationships xmlns="http://schemas.openxmlformats.org/package/2006/relationships"><Relationship Type="http://schemas.openxmlformats.org/officeDocument/2006/relationships/slideLayout" Target="/ppt/slideLayouts/slideLayout1.xml" Id="Rc91e9238f9d34614"/><Relationship Type="http://schemas.openxmlformats.org/officeDocument/2006/relationships/image" Target="/ppt/media/image3.png" Id="Rdb2d19f7eab34e08"/><Relationship Type="http://schemas.openxmlformats.org/officeDocument/2006/relationships/image" Target="/ppt/media/image4.png" Id="R23778c8369894a1f"/><Relationship Type="http://schemas.openxmlformats.org/officeDocument/2006/relationships/image" Target="../media/path-white.gif" Id="Rf43c10466a5d4674"/><Relationship Type="http://schemas.openxmlformats.org/officeDocument/2006/relationships/notesSlide" Target="/ppt/notesSlides/notesSlide2.xml" Id="Rb98566c5d5874180"/></Relationships>
</file>

<file path=ppt/slides/_rels/slide3.xml.rels><?xml version='1.0' encoding='utf-8'?>
<Relationships xmlns="http://schemas.openxmlformats.org/package/2006/relationships"><Relationship Type="http://schemas.openxmlformats.org/officeDocument/2006/relationships/slideLayout" Target="/ppt/slideLayouts/slideLayout1.xml" Id="Reddf411571e643b1"/><Relationship Type="http://schemas.openxmlformats.org/officeDocument/2006/relationships/image" Target="/ppt/media/image6.png" Id="R3c2553991bd1480d"/><Relationship Type="http://schemas.openxmlformats.org/officeDocument/2006/relationships/image" Target="/ppt/media/image7.png" Id="R17c3f351b97a4e89"/><Relationship Type="http://schemas.openxmlformats.org/officeDocument/2006/relationships/image" Target="/ppt/media/image.jpeg" Id="Rfdd3125d6459403b"/><Relationship Type="http://schemas.openxmlformats.org/officeDocument/2006/relationships/notesSlide" Target="/ppt/notesSlides/notesSlide3.xml" Id="R5226e3892cd84eed"/></Relationships>
</file>

<file path=ppt/slides/_rels/slide4.xml.rels><?xml version='1.0' encoding='utf-8'?>
<Relationships xmlns="http://schemas.openxmlformats.org/package/2006/relationships"><Relationship Type="http://schemas.openxmlformats.org/officeDocument/2006/relationships/slideLayout" Target="/ppt/slideLayouts/slideLayout1.xml" Id="R9ffcea9dbd904817"/><Relationship Type="http://schemas.openxmlformats.org/officeDocument/2006/relationships/image" Target="/ppt/media/image8.png" Id="R796d774f3c1c4659"/><Relationship Type="http://schemas.openxmlformats.org/officeDocument/2006/relationships/image" Target="../media/path-dark.gif" Id="R4999acf336d64098"/><Relationship Type="http://schemas.openxmlformats.org/officeDocument/2006/relationships/notesSlide" Target="/ppt/notesSlides/notesSlide4.xml" Id="R45961c872c8f41c9"/></Relationships>
</file>

<file path=ppt/slides/_rels/slide5.xml.rels><?xml version='1.0' encoding='utf-8'?>
<Relationships xmlns="http://schemas.openxmlformats.org/package/2006/relationships"><Relationship Type="http://schemas.openxmlformats.org/officeDocument/2006/relationships/slideLayout" Target="/ppt/slideLayouts/slideLayout1.xml" Id="R58adba357a274d61"/><Relationship Type="http://schemas.openxmlformats.org/officeDocument/2006/relationships/image" Target="/ppt/media/image10.png" Id="Rbbf5962fc7314f62"/><Relationship Type="http://schemas.openxmlformats.org/officeDocument/2006/relationships/image" Target="/ppt/media/image11.png" Id="R2a79bde2315c4530"/><Relationship Type="http://schemas.openxmlformats.org/officeDocument/2006/relationships/image" Target="/ppt/media/image12.png" Id="R6f841c9964b44d19"/><Relationship Type="http://schemas.openxmlformats.org/officeDocument/2006/relationships/notesSlide" Target="/ppt/notesSlides/notesSlide5.xml" Id="R0ed3901a105b4bb4"/></Relationships>
</file>

<file path=ppt/slides/_rels/slide6.xml.rels><?xml version='1.0' encoding='utf-8'?>
<Relationships xmlns="http://schemas.openxmlformats.org/package/2006/relationships"><Relationship Type="http://schemas.openxmlformats.org/officeDocument/2006/relationships/slideLayout" Target="/ppt/slideLayouts/slideLayout1.xml" Id="Rd9e19549326f442d"/><Relationship Type="http://schemas.openxmlformats.org/officeDocument/2006/relationships/image" Target="/ppt/media/image13.png" Id="Rc8304bc8754d4748"/><Relationship Type="http://schemas.openxmlformats.org/officeDocument/2006/relationships/image" Target="/ppt/media/image14.png" Id="R5073625ab734482b"/><Relationship Type="http://schemas.openxmlformats.org/officeDocument/2006/relationships/image" Target="../media/roles.gif" Id="R0bb9068ec215487f"/><Relationship Type="http://schemas.openxmlformats.org/officeDocument/2006/relationships/notesSlide" Target="/ppt/notesSlides/notesSlide6.xml" Id="Rf7768cf559964c47"/></Relationships>
</file>

<file path=ppt/slides/_rels/slide7.xml.rels><?xml version='1.0' encoding='utf-8'?>
<Relationships xmlns="http://schemas.openxmlformats.org/package/2006/relationships"><Relationship Type="http://schemas.openxmlformats.org/officeDocument/2006/relationships/slideLayout" Target="/ppt/slideLayouts/slideLayout1.xml" Id="R8fcbed0f938b4595"/><Relationship Type="http://schemas.openxmlformats.org/officeDocument/2006/relationships/image" Target="/ppt/media/image16.png" Id="R32cc69da7e1f469e"/><Relationship Type="http://schemas.openxmlformats.org/officeDocument/2006/relationships/image" Target="/ppt/media/image17.png" Id="R67d14574c1b64e48"/><Relationship Type="http://schemas.openxmlformats.org/officeDocument/2006/relationships/notesSlide" Target="/ppt/notesSlides/notesSlide7.xml" Id="R9cf97750fcf74bd0"/></Relationships>
</file>

<file path=ppt/slides/_rels/slide8.xml.rels><?xml version='1.0' encoding='utf-8'?>
<Relationships xmlns="http://schemas.openxmlformats.org/package/2006/relationships"><Relationship Type="http://schemas.openxmlformats.org/officeDocument/2006/relationships/slideLayout" Target="/ppt/slideLayouts/slideLayout1.xml" Id="R0f8abe4b29e14a06"/><Relationship Type="http://schemas.openxmlformats.org/officeDocument/2006/relationships/image" Target="/ppt/media/image18.png" Id="R1730d6e827ef4157"/><Relationship Type="http://schemas.openxmlformats.org/officeDocument/2006/relationships/image" Target="/ppt/media/image19.png" Id="Rb4a4549a378e4fb1"/><Relationship Type="http://schemas.openxmlformats.org/officeDocument/2006/relationships/image" Target="/ppt/media/image20.png" Id="Rb82627dec47b4ef3"/><Relationship Type="http://schemas.openxmlformats.org/officeDocument/2006/relationships/notesSlide" Target="/ppt/notesSlides/notesSlide8.xml" Id="R409e5308da244915"/></Relationships>
</file>

<file path=ppt/slides/_rels/slide9.xml.rels><?xml version='1.0' encoding='utf-8'?>
<Relationships xmlns="http://schemas.openxmlformats.org/package/2006/relationships"><Relationship Type="http://schemas.openxmlformats.org/officeDocument/2006/relationships/slideLayout" Target="/ppt/slideLayouts/slideLayout1.xml" Id="R5153ddf867a549ca"/><Relationship Type="http://schemas.openxmlformats.org/officeDocument/2006/relationships/image" Target="/ppt/media/image21.png" Id="R192c137270004e4d"/><Relationship Type="http://schemas.openxmlformats.org/officeDocument/2006/relationships/image" Target="/ppt/media/image22.png" Id="R31efb41cf6fa4e34"/><Relationship Type="http://schemas.openxmlformats.org/officeDocument/2006/relationships/image" Target="/ppt/media/image23.png" Id="R5b4d78937aef4c2c"/><Relationship Type="http://schemas.openxmlformats.org/officeDocument/2006/relationships/image" Target="/ppt/media/image24.png" Id="R27dbac4fa5c14dde"/><Relationship Type="http://schemas.openxmlformats.org/officeDocument/2006/relationships/image" Target="/ppt/media/image25.png" Id="R0d4b54c9d4734095"/><Relationship Type="http://schemas.openxmlformats.org/officeDocument/2006/relationships/image" Target="/ppt/media/image26.png" Id="R3eb144b0fdd84e5b"/><Relationship Type="http://schemas.openxmlformats.org/officeDocument/2006/relationships/image" Target="/ppt/media/image27.png" Id="Rf6d170bad2de493c"/><Relationship Type="http://schemas.openxmlformats.org/officeDocument/2006/relationships/image" Target="/ppt/media/image28.png" Id="Ref4cdfe2f52242d8"/><Relationship Type="http://schemas.openxmlformats.org/officeDocument/2006/relationships/notesSlide" Target="/ppt/notesSlides/notesSlide9.xml" Id="Rfece62d6631e414c"/></Relationships>
</file>

<file path=ppt/slides/_rels/slide10.xml.rels><?xml version='1.0' encoding='utf-8'?>
<Relationships xmlns="http://schemas.openxmlformats.org/package/2006/relationships"><Relationship Type="http://schemas.openxmlformats.org/officeDocument/2006/relationships/slideLayout" Target="/ppt/slideLayouts/slideLayout1.xml" Id="Ra3373ea40ec34f3a"/><Relationship Type="http://schemas.openxmlformats.org/officeDocument/2006/relationships/image" Target="/ppt/media/image29.png" Id="Rbd8258e005cc4863"/><Relationship Type="http://schemas.openxmlformats.org/officeDocument/2006/relationships/image" Target="/ppt/media/image30.png" Id="R89040f32d1d04422"/><Relationship Type="http://schemas.openxmlformats.org/officeDocument/2006/relationships/image" Target="/ppt/media/image31.png" Id="R553e3f586b4b451b"/><Relationship Type="http://schemas.openxmlformats.org/officeDocument/2006/relationships/image" Target="/ppt/media/image32.png" Id="Rc18b917abab046d2"/><Relationship Type="http://schemas.openxmlformats.org/officeDocument/2006/relationships/notesSlide" Target="/ppt/notesSlides/notesSlide10.xml" Id="R6d205d7e6e514be7"/></Relationships>
</file>

<file path=ppt/slides/_rels/slide11.xml.rels><?xml version='1.0' encoding='utf-8'?>
<Relationships xmlns="http://schemas.openxmlformats.org/package/2006/relationships"><Relationship Type="http://schemas.openxmlformats.org/officeDocument/2006/relationships/slideLayout" Target="/ppt/slideLayouts/slideLayout1.xml" Id="R74174c2360724c0d"/><Relationship Type="http://schemas.openxmlformats.org/officeDocument/2006/relationships/image" Target="/ppt/media/image33.png" Id="R7273f9195038451c"/><Relationship Type="http://schemas.openxmlformats.org/officeDocument/2006/relationships/image" Target="/ppt/media/image34.png" Id="Rf9b6009ab5834b84"/><Relationship Type="http://schemas.openxmlformats.org/officeDocument/2006/relationships/notesSlide" Target="/ppt/notesSlides/notesSlide11.xml" Id="Rd7634fddaa9d4444"/></Relationships>
</file>

<file path=ppt/slides/_rels/slide12.xml.rels><?xml version='1.0' encoding='utf-8'?>
<Relationships xmlns="http://schemas.openxmlformats.org/package/2006/relationships"><Relationship Type="http://schemas.openxmlformats.org/officeDocument/2006/relationships/slideLayout" Target="/ppt/slideLayouts/slideLayout1.xml" Id="Ra05f8000cd254c8b"/><Relationship Type="http://schemas.openxmlformats.org/officeDocument/2006/relationships/image" Target="/ppt/media/image35.png" Id="R407e6913f9444d6d"/><Relationship Type="http://schemas.openxmlformats.org/officeDocument/2006/relationships/image" Target="/ppt/media/image36.png" Id="Rc7f06aaf042d471e"/><Relationship Type="http://schemas.openxmlformats.org/officeDocument/2006/relationships/hyperlink" Target="https://intellipath-mroh.onrender.com/" TargetMode="External" Id="R463df4d2dd294b9d"/><Relationship Type="http://schemas.openxmlformats.org/officeDocument/2006/relationships/notesSlide" Target="/ppt/notesSlides/notesSlide12.xml" Id="Rdb94360477f44794"/></Relationships>
</file>

<file path=ppt/slides/slide1.xml><?xml version="1.0" encoding="utf-8"?>
<p:sld xmlns:p="http://schemas.openxmlformats.org/presentationml/2006/main">
  <p:cSld>
    <p:bg>
      <p:bgPr>
        <a:solidFill xmlns:a="http://schemas.openxmlformats.org/drawingml/2006/main">
          <a:srgbClr val="071B3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77164f7f6d54665"/>
          <a:srcRect xmlns:a="http://schemas.openxmlformats.org/drawingml/2006/main" l="0" t="16754" r="0" b="16754"/>
          <a:stretch xmlns:a="http://schemas.openxmlformats.org/drawingml/2006/main">
            <a:fillRect l="0" t="0" r="0" b="0"/>
          </a:stretch>
        </p:blipFill>
        <p:spPr>
          <a:xfrm xmlns:a="http://schemas.openxmlformats.org/drawingml/2006/main">
            <a:off x="0" y="0"/>
            <a:ext cx="12192000" cy="4562475"/>
          </a:xfrm>
          <a:prstGeom xmlns:a="http://schemas.openxmlformats.org/drawingml/2006/main" prst="rect">
            <a:avLst/>
          </a:prstGeom>
        </p:spPr>
      </p:pic>
      <p:sp>
        <p:nvSpPr>
          <p:cNvPr id="2" name="IntelliPath">
            <a:extLst xmlns:a="http://schemas.openxmlformats.org/drawingml/2006/main">
              <a:ext uri="{FF2B5EF4-FFF2-40B4-BE49-F238E27FC236}">
                <a16:creationId xmlns:a16="http://schemas.microsoft.com/office/drawing/2014/main" id="{7D5A270F-EEDE-4591-80B7-188B1489276A}"/>
              </a:ext>
            </a:extLst>
          </p:cNvPr>
          <p:cNvSpPr>
            <a:spLocks xmlns:a="http://schemas.openxmlformats.org/drawingml/2006/main" noGrp="1"/>
          </p:cNvSpPr>
          <p:nvPr/>
        </p:nvSpPr>
        <p:spPr>
          <a:xfrm xmlns:a="http://schemas.openxmlformats.org/drawingml/2006/main">
            <a:off x="514350" y="48196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IntelliPath</a:t>
            </a:r>
          </a:p>
        </p:txBody>
      </p:sp>
      <p:sp>
        <p:nvSpPr>
          <p:cNvPr id="3" name="A shared resource workspace&#10;for maritime oper">
            <a:extLst xmlns:a="http://schemas.openxmlformats.org/drawingml/2006/main">
              <a:ext uri="{FF2B5EF4-FFF2-40B4-BE49-F238E27FC236}">
                <a16:creationId xmlns:a16="http://schemas.microsoft.com/office/drawing/2014/main" id="{88EA1CD8-2CE0-4B09-8385-E5DA5B0FE508}"/>
              </a:ext>
            </a:extLst>
          </p:cNvPr>
          <p:cNvSpPr>
            <a:spLocks xmlns:a="http://schemas.openxmlformats.org/drawingml/2006/main" noGrp="1"/>
          </p:cNvSpPr>
          <p:nvPr/>
        </p:nvSpPr>
        <p:spPr>
          <a:xfrm xmlns:a="http://schemas.openxmlformats.org/drawingml/2006/main">
            <a:off x="571500" y="5753100"/>
            <a:ext cx="762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CFDFEB"/>
                </a:solidFill>
                <a:latin typeface="Arial"/>
                <a:ea typeface="Arial"/>
                <a:cs typeface="Arial"/>
              </a:defRPr>
            </a:pPr>
            <a:r>
              <a:rPr sz="2100" b="0">
                <a:solidFill>
                  <a:srgbClr val="CFDFEB"/>
                </a:solidFill>
                <a:latin typeface="Arial"/>
                <a:ea typeface="Arial"/>
                <a:cs typeface="Arial"/>
              </a:rPr>
              <a:t>A shared resource workspace</a:t>
            </a:r>
          </a:p>
          <a:p xmlns:a="http://schemas.openxmlformats.org/drawingml/2006/main">
            <a:pPr>
              <a:defRPr sz="2100" b="0">
                <a:solidFill>
                  <a:srgbClr val="CFDFEB"/>
                </a:solidFill>
                <a:latin typeface="Arial"/>
                <a:ea typeface="Arial"/>
                <a:cs typeface="Arial"/>
              </a:defRPr>
            </a:pPr>
            <a:r>
              <a:rPr sz="2100" b="0">
                <a:solidFill>
                  <a:srgbClr val="CFDFEB"/>
                </a:solidFill>
                <a:latin typeface="Arial"/>
                <a:ea typeface="Arial"/>
                <a:cs typeface="Arial"/>
              </a:rPr>
              <a:t>for maritime operations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99b60e8eb9f472e"/>
          <a:stretch xmlns:a="http://schemas.openxmlformats.org/drawingml/2006/main"/>
        </p:blipFill>
        <p:spPr>
          <a:xfrm xmlns:a="http://schemas.openxmlformats.org/drawingml/2006/main">
            <a:off x="9525000" y="5603705"/>
            <a:ext cx="2143125" cy="384515"/>
          </a:xfrm>
          <a:prstGeom xmlns:a="http://schemas.openxmlformats.org/drawingml/2006/main" prst="rect">
            <a:avLst/>
          </a:prstGeom>
        </p:spPr>
      </p:pic>
      <p:sp>
        <p:nvSpPr>
          <p:cNvPr id="5" name="RESOURCE WORKSPACE">
            <a:extLst xmlns:a="http://schemas.openxmlformats.org/drawingml/2006/main">
              <a:ext uri="{FF2B5EF4-FFF2-40B4-BE49-F238E27FC236}">
                <a16:creationId xmlns:a16="http://schemas.microsoft.com/office/drawing/2014/main" id="{645DE5AA-3D71-4985-9D34-5299CF9DCA85}"/>
              </a:ext>
            </a:extLst>
          </p:cNvPr>
          <p:cNvSpPr>
            <a:spLocks xmlns:a="http://schemas.openxmlformats.org/drawingml/2006/main" noGrp="1"/>
          </p:cNvSpPr>
          <p:nvPr/>
        </p:nvSpPr>
        <p:spPr>
          <a:xfrm xmlns:a="http://schemas.openxmlformats.org/drawingml/2006/main">
            <a:off x="9496425" y="6200775"/>
            <a:ext cx="23145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9D9EF"/>
                </a:solidFill>
                <a:latin typeface="Arial"/>
                <a:ea typeface="Arial"/>
                <a:cs typeface="Arial"/>
              </a:defRPr>
            </a:pPr>
            <a:r>
              <a:rPr sz="1050" b="1">
                <a:solidFill>
                  <a:srgbClr val="A9D9EF"/>
                </a:solidFill>
                <a:latin typeface="Arial"/>
                <a:ea typeface="Arial"/>
                <a:cs typeface="Arial"/>
              </a:rPr>
              <a:t>RESOURCE WORKSPACE</a:t>
            </a:r>
          </a:p>
        </p:txBody>
      </p:sp>
    </p:spTree>
    <p:extLst>
      <p:ext uri="{BB962C8B-B14F-4D97-AF65-F5344CB8AC3E}">
        <p14:creationId xmlns:p14="http://schemas.microsoft.com/office/powerpoint/2010/main" val="1768616638"/>
      </p:ext>
    </p:extLst>
  </p:cSld>
  <p:transition spd="slow"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b2d19f7eab34e08"/>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THE INTELLIPATH EXPERIENCE">
            <a:extLst xmlns:a="http://schemas.openxmlformats.org/drawingml/2006/main">
              <a:ext uri="{FF2B5EF4-FFF2-40B4-BE49-F238E27FC236}">
                <a16:creationId xmlns:a16="http://schemas.microsoft.com/office/drawing/2014/main" id="{82859FB9-12E6-4DD5-8ED4-B8C11AFE06F3}"/>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THE INTELLIPATH EXPERIENCE</a:t>
            </a:r>
          </a:p>
        </p:txBody>
      </p:sp>
      <p:sp>
        <p:nvSpPr>
          <p:cNvPr id="3" name="One continuous Path">
            <a:extLst xmlns:a="http://schemas.openxmlformats.org/drawingml/2006/main">
              <a:ext uri="{FF2B5EF4-FFF2-40B4-BE49-F238E27FC236}">
                <a16:creationId xmlns:a16="http://schemas.microsoft.com/office/drawing/2014/main" id="{75D1C66B-7252-4D23-B798-EA0FDFDFB428}"/>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One continuous Path</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3778c8369894a1f"/>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60CFAA79-7A5D-457F-96A2-B41BCDA4761D}"/>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2">
            <a:extLst xmlns:a="http://schemas.openxmlformats.org/drawingml/2006/main">
              <a:ext uri="{FF2B5EF4-FFF2-40B4-BE49-F238E27FC236}">
                <a16:creationId xmlns:a16="http://schemas.microsoft.com/office/drawing/2014/main" id="{2F828369-CEC7-4B95-B706-4D4BAF9BDFE5}"/>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02</a:t>
            </a:r>
          </a:p>
        </p:txBody>
      </p:sp>
      <p:sp>
        <p:nvSpPr>
          <p:cNvPr id="7" name="A question becomes a route through people, kn">
            <a:extLst xmlns:a="http://schemas.openxmlformats.org/drawingml/2006/main">
              <a:ext uri="{FF2B5EF4-FFF2-40B4-BE49-F238E27FC236}">
                <a16:creationId xmlns:a16="http://schemas.microsoft.com/office/drawing/2014/main" id="{A709C5E1-C6F3-4F72-B630-E11478A555C2}"/>
              </a:ext>
            </a:extLst>
          </p:cNvPr>
          <p:cNvSpPr>
            <a:spLocks xmlns:a="http://schemas.openxmlformats.org/drawingml/2006/main" noGrp="1"/>
          </p:cNvSpPr>
          <p:nvPr/>
        </p:nvSpPr>
        <p:spPr>
          <a:xfrm xmlns:a="http://schemas.openxmlformats.org/drawingml/2006/main">
            <a:off x="533400" y="18097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314C"/>
                </a:solidFill>
                <a:latin typeface="Arial"/>
                <a:ea typeface="Arial"/>
                <a:cs typeface="Arial"/>
              </a:defRPr>
            </a:pPr>
            <a:r>
              <a:rPr sz="2325" b="0">
                <a:solidFill>
                  <a:srgbClr val="12314C"/>
                </a:solidFill>
                <a:latin typeface="Arial"/>
                <a:ea typeface="Arial"/>
                <a:cs typeface="Arial"/>
              </a:rPr>
              <a:t>A question becomes a route through people, knowledge and action.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43c10466a5d4674"/>
          <a:stretch xmlns:a="http://schemas.openxmlformats.org/drawingml/2006/main"/>
        </p:blipFill>
        <p:spPr>
          <a:xfrm xmlns:a="http://schemas.openxmlformats.org/drawingml/2006/main">
            <a:off x="533400" y="3171825"/>
            <a:ext cx="11125200" cy="685800"/>
          </a:xfrm>
          <a:prstGeom xmlns:a="http://schemas.openxmlformats.org/drawingml/2006/main" prst="rect">
            <a:avLst/>
          </a:prstGeom>
        </p:spPr>
      </p:pic>
      <p:sp>
        <p:nvSpPr>
          <p:cNvPr id="9" name="Ask">
            <a:extLst xmlns:a="http://schemas.openxmlformats.org/drawingml/2006/main">
              <a:ext uri="{FF2B5EF4-FFF2-40B4-BE49-F238E27FC236}">
                <a16:creationId xmlns:a16="http://schemas.microsoft.com/office/drawing/2014/main" id="{EDD736EE-BACA-4D79-9631-4DAE4152842F}"/>
              </a:ext>
            </a:extLst>
          </p:cNvPr>
          <p:cNvSpPr>
            <a:spLocks xmlns:a="http://schemas.openxmlformats.org/drawingml/2006/main" noGrp="1"/>
          </p:cNvSpPr>
          <p:nvPr/>
        </p:nvSpPr>
        <p:spPr>
          <a:xfrm xmlns:a="http://schemas.openxmlformats.org/drawingml/2006/main">
            <a:off x="533400" y="2628900"/>
            <a:ext cx="2028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71B32"/>
                </a:solidFill>
                <a:latin typeface="Arial"/>
                <a:ea typeface="Arial"/>
                <a:cs typeface="Arial"/>
              </a:defRPr>
            </a:pPr>
            <a:r>
              <a:rPr sz="2400" b="1">
                <a:solidFill>
                  <a:srgbClr val="071B32"/>
                </a:solidFill>
                <a:latin typeface="Arial"/>
                <a:ea typeface="Arial"/>
                <a:cs typeface="Arial"/>
              </a:rPr>
              <a:t>Ask</a:t>
            </a:r>
          </a:p>
        </p:txBody>
      </p:sp>
      <p:sp>
        <p:nvSpPr>
          <p:cNvPr id="10" name="Start with a task&#10;or a question.">
            <a:extLst xmlns:a="http://schemas.openxmlformats.org/drawingml/2006/main">
              <a:ext uri="{FF2B5EF4-FFF2-40B4-BE49-F238E27FC236}">
                <a16:creationId xmlns:a16="http://schemas.microsoft.com/office/drawing/2014/main" id="{1DB59CDD-E840-422B-8132-7E3BB0201144}"/>
              </a:ext>
            </a:extLst>
          </p:cNvPr>
          <p:cNvSpPr>
            <a:spLocks xmlns:a="http://schemas.openxmlformats.org/drawingml/2006/main" noGrp="1"/>
          </p:cNvSpPr>
          <p:nvPr/>
        </p:nvSpPr>
        <p:spPr>
          <a:xfrm xmlns:a="http://schemas.openxmlformats.org/drawingml/2006/main">
            <a:off x="533400" y="420052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Start with a task</a:t>
            </a:r>
          </a:p>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or a question.</a:t>
            </a:r>
          </a:p>
        </p:txBody>
      </p:sp>
      <p:sp>
        <p:nvSpPr>
          <p:cNvPr id="11" name="Route">
            <a:extLst xmlns:a="http://schemas.openxmlformats.org/drawingml/2006/main">
              <a:ext uri="{FF2B5EF4-FFF2-40B4-BE49-F238E27FC236}">
                <a16:creationId xmlns:a16="http://schemas.microsoft.com/office/drawing/2014/main" id="{E9154FF7-20E8-4C1F-AE9C-49B2BE011293}"/>
              </a:ext>
            </a:extLst>
          </p:cNvPr>
          <p:cNvSpPr>
            <a:spLocks xmlns:a="http://schemas.openxmlformats.org/drawingml/2006/main" noGrp="1"/>
          </p:cNvSpPr>
          <p:nvPr/>
        </p:nvSpPr>
        <p:spPr>
          <a:xfrm xmlns:a="http://schemas.openxmlformats.org/drawingml/2006/main">
            <a:off x="2790825" y="2628900"/>
            <a:ext cx="2028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71B32"/>
                </a:solidFill>
                <a:latin typeface="Arial"/>
                <a:ea typeface="Arial"/>
                <a:cs typeface="Arial"/>
              </a:defRPr>
            </a:pPr>
            <a:r>
              <a:rPr sz="2400" b="1">
                <a:solidFill>
                  <a:srgbClr val="071B32"/>
                </a:solidFill>
                <a:latin typeface="Arial"/>
                <a:ea typeface="Arial"/>
                <a:cs typeface="Arial"/>
              </a:rPr>
              <a:t>Route</a:t>
            </a:r>
          </a:p>
        </p:txBody>
      </p:sp>
      <p:sp>
        <p:nvSpPr>
          <p:cNvPr id="12" name="Select the right&#10;specialist agents.">
            <a:extLst xmlns:a="http://schemas.openxmlformats.org/drawingml/2006/main">
              <a:ext uri="{FF2B5EF4-FFF2-40B4-BE49-F238E27FC236}">
                <a16:creationId xmlns:a16="http://schemas.microsoft.com/office/drawing/2014/main" id="{CB33F72D-72D4-4D58-9395-F24479C62DD4}"/>
              </a:ext>
            </a:extLst>
          </p:cNvPr>
          <p:cNvSpPr>
            <a:spLocks xmlns:a="http://schemas.openxmlformats.org/drawingml/2006/main" noGrp="1"/>
          </p:cNvSpPr>
          <p:nvPr/>
        </p:nvSpPr>
        <p:spPr>
          <a:xfrm xmlns:a="http://schemas.openxmlformats.org/drawingml/2006/main">
            <a:off x="2790825" y="420052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Select the right</a:t>
            </a:r>
          </a:p>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specialist agents.</a:t>
            </a:r>
          </a:p>
        </p:txBody>
      </p:sp>
      <p:sp>
        <p:nvSpPr>
          <p:cNvPr id="13" name="Discover">
            <a:extLst xmlns:a="http://schemas.openxmlformats.org/drawingml/2006/main">
              <a:ext uri="{FF2B5EF4-FFF2-40B4-BE49-F238E27FC236}">
                <a16:creationId xmlns:a16="http://schemas.microsoft.com/office/drawing/2014/main" id="{1EF73AF2-10F5-40B1-A27F-5DE25BD036E2}"/>
              </a:ext>
            </a:extLst>
          </p:cNvPr>
          <p:cNvSpPr>
            <a:spLocks xmlns:a="http://schemas.openxmlformats.org/drawingml/2006/main" noGrp="1"/>
          </p:cNvSpPr>
          <p:nvPr/>
        </p:nvSpPr>
        <p:spPr>
          <a:xfrm xmlns:a="http://schemas.openxmlformats.org/drawingml/2006/main">
            <a:off x="5048250" y="2628900"/>
            <a:ext cx="2028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71B32"/>
                </a:solidFill>
                <a:latin typeface="Arial"/>
                <a:ea typeface="Arial"/>
                <a:cs typeface="Arial"/>
              </a:defRPr>
            </a:pPr>
            <a:r>
              <a:rPr sz="2400" b="1">
                <a:solidFill>
                  <a:srgbClr val="071B32"/>
                </a:solidFill>
                <a:latin typeface="Arial"/>
                <a:ea typeface="Arial"/>
                <a:cs typeface="Arial"/>
              </a:rPr>
              <a:t>Discover</a:t>
            </a:r>
          </a:p>
        </p:txBody>
      </p:sp>
      <p:sp>
        <p:nvSpPr>
          <p:cNvPr id="14" name="Find authorized&#10;files and devices.">
            <a:extLst xmlns:a="http://schemas.openxmlformats.org/drawingml/2006/main">
              <a:ext uri="{FF2B5EF4-FFF2-40B4-BE49-F238E27FC236}">
                <a16:creationId xmlns:a16="http://schemas.microsoft.com/office/drawing/2014/main" id="{8BDCF741-107E-4E2D-BB0F-395F74096DD7}"/>
              </a:ext>
            </a:extLst>
          </p:cNvPr>
          <p:cNvSpPr>
            <a:spLocks xmlns:a="http://schemas.openxmlformats.org/drawingml/2006/main" noGrp="1"/>
          </p:cNvSpPr>
          <p:nvPr/>
        </p:nvSpPr>
        <p:spPr>
          <a:xfrm xmlns:a="http://schemas.openxmlformats.org/drawingml/2006/main">
            <a:off x="5048250" y="420052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Find authorized</a:t>
            </a:r>
          </a:p>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files and devices.</a:t>
            </a:r>
          </a:p>
        </p:txBody>
      </p:sp>
      <p:sp>
        <p:nvSpPr>
          <p:cNvPr id="15" name="Locate">
            <a:extLst xmlns:a="http://schemas.openxmlformats.org/drawingml/2006/main">
              <a:ext uri="{FF2B5EF4-FFF2-40B4-BE49-F238E27FC236}">
                <a16:creationId xmlns:a16="http://schemas.microsoft.com/office/drawing/2014/main" id="{8222C1D3-28DE-49F7-A410-EB322FA90C1C}"/>
              </a:ext>
            </a:extLst>
          </p:cNvPr>
          <p:cNvSpPr>
            <a:spLocks xmlns:a="http://schemas.openxmlformats.org/drawingml/2006/main" noGrp="1"/>
          </p:cNvSpPr>
          <p:nvPr/>
        </p:nvSpPr>
        <p:spPr>
          <a:xfrm xmlns:a="http://schemas.openxmlformats.org/drawingml/2006/main">
            <a:off x="7305675" y="2628900"/>
            <a:ext cx="2028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71B32"/>
                </a:solidFill>
                <a:latin typeface="Arial"/>
                <a:ea typeface="Arial"/>
                <a:cs typeface="Arial"/>
              </a:defRPr>
            </a:pPr>
            <a:r>
              <a:rPr sz="2400" b="1">
                <a:solidFill>
                  <a:srgbClr val="071B32"/>
                </a:solidFill>
                <a:latin typeface="Arial"/>
                <a:ea typeface="Arial"/>
                <a:cs typeface="Arial"/>
              </a:rPr>
              <a:t>Locate</a:t>
            </a:r>
          </a:p>
        </p:txBody>
      </p:sp>
      <p:sp>
        <p:nvSpPr>
          <p:cNvPr id="16" name="Connect people&#10;with workplaces.">
            <a:extLst xmlns:a="http://schemas.openxmlformats.org/drawingml/2006/main">
              <a:ext uri="{FF2B5EF4-FFF2-40B4-BE49-F238E27FC236}">
                <a16:creationId xmlns:a16="http://schemas.microsoft.com/office/drawing/2014/main" id="{02402FFF-B7DF-4AC9-9918-E3DFF2DC315A}"/>
              </a:ext>
            </a:extLst>
          </p:cNvPr>
          <p:cNvSpPr>
            <a:spLocks xmlns:a="http://schemas.openxmlformats.org/drawingml/2006/main" noGrp="1"/>
          </p:cNvSpPr>
          <p:nvPr/>
        </p:nvSpPr>
        <p:spPr>
          <a:xfrm xmlns:a="http://schemas.openxmlformats.org/drawingml/2006/main">
            <a:off x="7305675" y="420052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Connect people</a:t>
            </a:r>
          </a:p>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with workplaces.</a:t>
            </a:r>
          </a:p>
        </p:txBody>
      </p:sp>
      <p:sp>
        <p:nvSpPr>
          <p:cNvPr id="17" name="Act">
            <a:extLst xmlns:a="http://schemas.openxmlformats.org/drawingml/2006/main">
              <a:ext uri="{FF2B5EF4-FFF2-40B4-BE49-F238E27FC236}">
                <a16:creationId xmlns:a16="http://schemas.microsoft.com/office/drawing/2014/main" id="{79CCCC87-B215-40C9-BF32-EDD73559DE68}"/>
              </a:ext>
            </a:extLst>
          </p:cNvPr>
          <p:cNvSpPr>
            <a:spLocks xmlns:a="http://schemas.openxmlformats.org/drawingml/2006/main" noGrp="1"/>
          </p:cNvSpPr>
          <p:nvPr/>
        </p:nvSpPr>
        <p:spPr>
          <a:xfrm xmlns:a="http://schemas.openxmlformats.org/drawingml/2006/main">
            <a:off x="9563100" y="2628900"/>
            <a:ext cx="2028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71B32"/>
                </a:solidFill>
                <a:latin typeface="Arial"/>
                <a:ea typeface="Arial"/>
                <a:cs typeface="Arial"/>
              </a:defRPr>
            </a:pPr>
            <a:r>
              <a:rPr sz="2400" b="1">
                <a:solidFill>
                  <a:srgbClr val="071B32"/>
                </a:solidFill>
                <a:latin typeface="Arial"/>
                <a:ea typeface="Arial"/>
                <a:cs typeface="Arial"/>
              </a:rPr>
              <a:t>Act</a:t>
            </a:r>
          </a:p>
        </p:txBody>
      </p:sp>
      <p:sp>
        <p:nvSpPr>
          <p:cNvPr id="18" name="Review evidence&#10;and follow up.">
            <a:extLst xmlns:a="http://schemas.openxmlformats.org/drawingml/2006/main">
              <a:ext uri="{FF2B5EF4-FFF2-40B4-BE49-F238E27FC236}">
                <a16:creationId xmlns:a16="http://schemas.microsoft.com/office/drawing/2014/main" id="{F8D6597E-CABA-4A13-852F-824AB847D0DA}"/>
              </a:ext>
            </a:extLst>
          </p:cNvPr>
          <p:cNvSpPr>
            <a:spLocks xmlns:a="http://schemas.openxmlformats.org/drawingml/2006/main" noGrp="1"/>
          </p:cNvSpPr>
          <p:nvPr/>
        </p:nvSpPr>
        <p:spPr>
          <a:xfrm xmlns:a="http://schemas.openxmlformats.org/drawingml/2006/main">
            <a:off x="9563100" y="420052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Review evidence</a:t>
            </a:r>
          </a:p>
          <a:p xmlns:a="http://schemas.openxmlformats.org/drawingml/2006/main">
            <a:pPr>
              <a:defRPr sz="1875" b="0">
                <a:solidFill>
                  <a:srgbClr val="526B80"/>
                </a:solidFill>
                <a:latin typeface="Arial"/>
                <a:ea typeface="Arial"/>
                <a:cs typeface="Arial"/>
              </a:defRPr>
            </a:pPr>
            <a:r>
              <a:rPr sz="1875" b="0">
                <a:solidFill>
                  <a:srgbClr val="526B80"/>
                </a:solidFill>
                <a:latin typeface="Arial"/>
                <a:ea typeface="Arial"/>
                <a:cs typeface="Arial"/>
              </a:rPr>
              <a:t>and follow up.</a:t>
            </a:r>
          </a:p>
        </p:txBody>
      </p:sp>
      <p:sp>
        <p:nvSpPr>
          <p:cNvPr id="19" name="A connected route from a question to useful a">
            <a:extLst xmlns:a="http://schemas.openxmlformats.org/drawingml/2006/main">
              <a:ext uri="{FF2B5EF4-FFF2-40B4-BE49-F238E27FC236}">
                <a16:creationId xmlns:a16="http://schemas.microsoft.com/office/drawing/2014/main" id="{A33DB569-D593-43DC-BCB0-74E513DEDCE9}"/>
              </a:ext>
            </a:extLst>
          </p:cNvPr>
          <p:cNvSpPr>
            <a:spLocks xmlns:a="http://schemas.openxmlformats.org/drawingml/2006/main" noGrp="1"/>
          </p:cNvSpPr>
          <p:nvPr/>
        </p:nvSpPr>
        <p:spPr>
          <a:xfrm xmlns:a="http://schemas.openxmlformats.org/drawingml/2006/main">
            <a:off x="533400" y="556260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5BCB"/>
                </a:solidFill>
                <a:latin typeface="Arial"/>
                <a:ea typeface="Arial"/>
                <a:cs typeface="Arial"/>
              </a:defRPr>
            </a:pPr>
            <a:r>
              <a:rPr sz="2400" b="1">
                <a:solidFill>
                  <a:srgbClr val="005BCB"/>
                </a:solidFill>
                <a:latin typeface="Arial"/>
                <a:ea typeface="Arial"/>
                <a:cs typeface="Arial"/>
              </a:rPr>
              <a:t>A connected route from a question to useful action.</a:t>
            </a:r>
          </a:p>
        </p:txBody>
      </p:sp>
    </p:spTree>
    <p:extLst>
      <p:ext uri="{BB962C8B-B14F-4D97-AF65-F5344CB8AC3E}">
        <p14:creationId xmlns:p14="http://schemas.microsoft.com/office/powerpoint/2010/main" val="364224514"/>
      </p:ext>
    </p:extLst>
  </p:cSld>
  <p:transition spd="slow"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c2553991bd1480d"/>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RESOURCE DISCOVERY">
            <a:extLst xmlns:a="http://schemas.openxmlformats.org/drawingml/2006/main">
              <a:ext uri="{FF2B5EF4-FFF2-40B4-BE49-F238E27FC236}">
                <a16:creationId xmlns:a16="http://schemas.microsoft.com/office/drawing/2014/main" id="{F65EAC85-E8E9-4901-9008-879BA77ABF03}"/>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RESOURCE DISCOVERY</a:t>
            </a:r>
          </a:p>
        </p:txBody>
      </p:sp>
      <p:sp>
        <p:nvSpPr>
          <p:cNvPr id="3" name="One search across the workspace">
            <a:extLst xmlns:a="http://schemas.openxmlformats.org/drawingml/2006/main">
              <a:ext uri="{FF2B5EF4-FFF2-40B4-BE49-F238E27FC236}">
                <a16:creationId xmlns:a16="http://schemas.microsoft.com/office/drawing/2014/main" id="{D71B3972-ACAF-4CAA-8376-FB6C8CE501DE}"/>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One search across the workspace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7c3f351b97a4e89"/>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BBF082AD-8E8F-4E4A-A336-54C9FDEC67D9}"/>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3">
            <a:extLst xmlns:a="http://schemas.openxmlformats.org/drawingml/2006/main">
              <a:ext uri="{FF2B5EF4-FFF2-40B4-BE49-F238E27FC236}">
                <a16:creationId xmlns:a16="http://schemas.microsoft.com/office/drawing/2014/main" id="{8F68E4C1-CCF8-4322-8B8C-19CA7C7E6330}"/>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dd3125d6459403b"/>
          <a:stretch xmlns:a="http://schemas.openxmlformats.org/drawingml/2006/main"/>
        </p:blipFill>
        <p:spPr>
          <a:xfrm xmlns:a="http://schemas.openxmlformats.org/drawingml/2006/main">
            <a:off x="556893" y="1704975"/>
            <a:ext cx="6572888" cy="4552950"/>
          </a:xfrm>
          <a:prstGeom xmlns:a="http://schemas.openxmlformats.org/drawingml/2006/main" prst="rect">
            <a:avLst/>
          </a:prstGeom>
        </p:spPr>
      </p:pic>
      <p:sp>
        <p:nvSpPr>
          <p:cNvPr id="8" name="Find a pump&#10;maintenance record">
            <a:extLst xmlns:a="http://schemas.openxmlformats.org/drawingml/2006/main">
              <a:ext uri="{FF2B5EF4-FFF2-40B4-BE49-F238E27FC236}">
                <a16:creationId xmlns:a16="http://schemas.microsoft.com/office/drawing/2014/main" id="{2B2B0751-F0CB-401B-A0BB-7E2D52C9C5B1}"/>
              </a:ext>
            </a:extLst>
          </p:cNvPr>
          <p:cNvSpPr>
            <a:spLocks xmlns:a="http://schemas.openxmlformats.org/drawingml/2006/main" noGrp="1"/>
          </p:cNvSpPr>
          <p:nvPr/>
        </p:nvSpPr>
        <p:spPr>
          <a:xfrm xmlns:a="http://schemas.openxmlformats.org/drawingml/2006/main">
            <a:off x="7724775" y="1952625"/>
            <a:ext cx="39338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071B32"/>
                </a:solidFill>
                <a:latin typeface="Arial"/>
                <a:ea typeface="Arial"/>
                <a:cs typeface="Arial"/>
              </a:defRPr>
            </a:pPr>
            <a:r>
              <a:rPr sz="2625" b="1">
                <a:solidFill>
                  <a:srgbClr val="071B32"/>
                </a:solidFill>
                <a:latin typeface="Arial"/>
                <a:ea typeface="Arial"/>
                <a:cs typeface="Arial"/>
              </a:rPr>
              <a:t>Find a pump</a:t>
            </a:r>
          </a:p>
          <a:p xmlns:a="http://schemas.openxmlformats.org/drawingml/2006/main">
            <a:pPr>
              <a:defRPr sz="2625" b="1">
                <a:solidFill>
                  <a:srgbClr val="071B32"/>
                </a:solidFill>
                <a:latin typeface="Arial"/>
                <a:ea typeface="Arial"/>
                <a:cs typeface="Arial"/>
              </a:defRPr>
            </a:pPr>
            <a:r>
              <a:rPr sz="2625" b="1">
                <a:solidFill>
                  <a:srgbClr val="071B32"/>
                </a:solidFill>
                <a:latin typeface="Arial"/>
                <a:ea typeface="Arial"/>
                <a:cs typeface="Arial"/>
              </a:rPr>
              <a:t>maintenance record</a:t>
            </a:r>
          </a:p>
        </p:txBody>
      </p:sp>
      <p:sp>
        <p:nvSpPr>
          <p:cNvPr id="9" name="A practical search example">
            <a:extLst xmlns:a="http://schemas.openxmlformats.org/drawingml/2006/main">
              <a:ext uri="{FF2B5EF4-FFF2-40B4-BE49-F238E27FC236}">
                <a16:creationId xmlns:a16="http://schemas.microsoft.com/office/drawing/2014/main" id="{CC2301ED-01D8-458B-B38D-BD05F9A68950}"/>
              </a:ext>
            </a:extLst>
          </p:cNvPr>
          <p:cNvSpPr>
            <a:spLocks xmlns:a="http://schemas.openxmlformats.org/drawingml/2006/main" noGrp="1"/>
          </p:cNvSpPr>
          <p:nvPr/>
        </p:nvSpPr>
        <p:spPr>
          <a:xfrm xmlns:a="http://schemas.openxmlformats.org/drawingml/2006/main">
            <a:off x="7724775" y="3133725"/>
            <a:ext cx="3933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005BCB"/>
                </a:solidFill>
                <a:latin typeface="Arial"/>
                <a:ea typeface="Arial"/>
                <a:cs typeface="Arial"/>
              </a:defRPr>
            </a:pPr>
            <a:r>
              <a:rPr sz="1425" b="1">
                <a:solidFill>
                  <a:srgbClr val="005BCB"/>
                </a:solidFill>
                <a:latin typeface="Arial"/>
                <a:ea typeface="Arial"/>
                <a:cs typeface="Arial"/>
              </a:rPr>
              <a:t>A practical search example</a:t>
            </a:r>
          </a:p>
        </p:txBody>
      </p:sp>
      <p:sp>
        <p:nvSpPr>
          <p:cNvPr id="10" name="Search files, people, devices and operational">
            <a:extLst xmlns:a="http://schemas.openxmlformats.org/drawingml/2006/main">
              <a:ext uri="{FF2B5EF4-FFF2-40B4-BE49-F238E27FC236}">
                <a16:creationId xmlns:a16="http://schemas.microsoft.com/office/drawing/2014/main" id="{7F048E95-12FC-4184-B776-739809D47193}"/>
              </a:ext>
            </a:extLst>
          </p:cNvPr>
          <p:cNvSpPr>
            <a:spLocks xmlns:a="http://schemas.openxmlformats.org/drawingml/2006/main" noGrp="1"/>
          </p:cNvSpPr>
          <p:nvPr/>
        </p:nvSpPr>
        <p:spPr>
          <a:xfrm xmlns:a="http://schemas.openxmlformats.org/drawingml/2006/main">
            <a:off x="7724775" y="3743325"/>
            <a:ext cx="3933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314C"/>
                </a:solidFill>
                <a:latin typeface="Arial"/>
                <a:ea typeface="Arial"/>
                <a:cs typeface="Arial"/>
              </a:defRPr>
            </a:pPr>
            <a:r>
              <a:rPr sz="2025" b="0">
                <a:solidFill>
                  <a:srgbClr val="12314C"/>
                </a:solidFill>
                <a:latin typeface="Arial"/>
                <a:ea typeface="Arial"/>
                <a:cs typeface="Arial"/>
              </a:rPr>
              <a:t>Search files, people, devices and operational records.</a:t>
            </a:r>
          </a:p>
        </p:txBody>
      </p:sp>
      <p:sp>
        <p:nvSpPr>
          <p:cNvPr id="11" name="Open the evidence, then follow related resour">
            <a:extLst xmlns:a="http://schemas.openxmlformats.org/drawingml/2006/main">
              <a:ext uri="{FF2B5EF4-FFF2-40B4-BE49-F238E27FC236}">
                <a16:creationId xmlns:a16="http://schemas.microsoft.com/office/drawing/2014/main" id="{2B5A10ED-837B-468B-B58B-CC516F749804}"/>
              </a:ext>
            </a:extLst>
          </p:cNvPr>
          <p:cNvSpPr>
            <a:spLocks xmlns:a="http://schemas.openxmlformats.org/drawingml/2006/main" noGrp="1"/>
          </p:cNvSpPr>
          <p:nvPr/>
        </p:nvSpPr>
        <p:spPr>
          <a:xfrm xmlns:a="http://schemas.openxmlformats.org/drawingml/2006/main">
            <a:off x="7724775" y="4810125"/>
            <a:ext cx="3933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314C"/>
                </a:solidFill>
                <a:latin typeface="Arial"/>
                <a:ea typeface="Arial"/>
                <a:cs typeface="Arial"/>
              </a:defRPr>
            </a:pPr>
            <a:r>
              <a:rPr sz="2025" b="0">
                <a:solidFill>
                  <a:srgbClr val="12314C"/>
                </a:solidFill>
                <a:latin typeface="Arial"/>
                <a:ea typeface="Arial"/>
                <a:cs typeface="Arial"/>
              </a:rPr>
              <a:t>Open the evidence, then follow related resources.</a:t>
            </a:r>
          </a:p>
        </p:txBody>
      </p:sp>
      <p:sp>
        <p:nvSpPr>
          <p:cNvPr id="12" name="Results respect the signed-in role.">
            <a:extLst xmlns:a="http://schemas.openxmlformats.org/drawingml/2006/main">
              <a:ext uri="{FF2B5EF4-FFF2-40B4-BE49-F238E27FC236}">
                <a16:creationId xmlns:a16="http://schemas.microsoft.com/office/drawing/2014/main" id="{55C4FA15-0416-4B44-8CA2-A774B2019399}"/>
              </a:ext>
            </a:extLst>
          </p:cNvPr>
          <p:cNvSpPr>
            <a:spLocks xmlns:a="http://schemas.openxmlformats.org/drawingml/2006/main" noGrp="1"/>
          </p:cNvSpPr>
          <p:nvPr/>
        </p:nvSpPr>
        <p:spPr>
          <a:xfrm xmlns:a="http://schemas.openxmlformats.org/drawingml/2006/main">
            <a:off x="7724775" y="5810250"/>
            <a:ext cx="3933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005BCB"/>
                </a:solidFill>
                <a:latin typeface="Arial"/>
                <a:ea typeface="Arial"/>
                <a:cs typeface="Arial"/>
              </a:defRPr>
            </a:pPr>
            <a:r>
              <a:rPr sz="1650" b="1">
                <a:solidFill>
                  <a:srgbClr val="005BCB"/>
                </a:solidFill>
                <a:latin typeface="Arial"/>
                <a:ea typeface="Arial"/>
                <a:cs typeface="Arial"/>
              </a:rPr>
              <a:t>Results respect the signed-in role.</a:t>
            </a:r>
          </a:p>
        </p:txBody>
      </p:sp>
    </p:spTree>
    <p:extLst>
      <p:ext uri="{BB962C8B-B14F-4D97-AF65-F5344CB8AC3E}">
        <p14:creationId xmlns:p14="http://schemas.microsoft.com/office/powerpoint/2010/main" val="1846947876"/>
      </p:ext>
    </p:extLst>
  </p:cSld>
  <p:transition spd="slow" advClick="1">
    <p:fade/>
  </p:transition>
</p:sld>
</file>

<file path=ppt/slides/slide4.xml><?xml version="1.0" encoding="utf-8"?>
<p:sld xmlns:p="http://schemas.openxmlformats.org/presentationml/2006/main">
  <p:cSld>
    <p:bg>
      <p:bgPr>
        <a:solidFill xmlns:a="http://schemas.openxmlformats.org/drawingml/2006/main">
          <a:srgbClr val="071B32"/>
        </a:solidFill>
      </p:bgPr>
    </p:bg>
    <p:spTree>
      <p:nvGrpSpPr>
        <p:cNvPr id="1" name=""/>
        <p:cNvGrpSpPr/>
        <p:nvPr/>
      </p:nvGrpSpPr>
      <p:grpSpPr>
        <a:xfrm xmlns:a="http://schemas.openxmlformats.org/drawingml/2006/main"/>
      </p:grpSpPr>
      <p:sp>
        <p:nvSpPr>
          <p:cNvPr id="20" name="CONNECTED INTELLIGENCE">
            <a:extLst xmlns:a="http://schemas.openxmlformats.org/drawingml/2006/main">
              <a:ext uri="{FF2B5EF4-FFF2-40B4-BE49-F238E27FC236}">
                <a16:creationId xmlns:a16="http://schemas.microsoft.com/office/drawing/2014/main" id="{5D6D3119-1381-4B51-A05A-5FA3ADE83236}"/>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9D9EF"/>
                </a:solidFill>
                <a:latin typeface="Arial"/>
                <a:ea typeface="Arial"/>
                <a:cs typeface="Arial"/>
              </a:defRPr>
            </a:pPr>
            <a:r>
              <a:rPr sz="1275" b="1">
                <a:solidFill>
                  <a:srgbClr val="A9D9EF"/>
                </a:solidFill>
                <a:latin typeface="Arial"/>
                <a:ea typeface="Arial"/>
                <a:cs typeface="Arial"/>
              </a:rPr>
              <a:t>CONNECTED INTELLIGENCE</a:t>
            </a:r>
          </a:p>
        </p:txBody>
      </p:sp>
      <p:sp>
        <p:nvSpPr>
          <p:cNvPr id="2" name="Agent-to-Agent collaboration">
            <a:extLst xmlns:a="http://schemas.openxmlformats.org/drawingml/2006/main">
              <a:ext uri="{FF2B5EF4-FFF2-40B4-BE49-F238E27FC236}">
                <a16:creationId xmlns:a16="http://schemas.microsoft.com/office/drawing/2014/main" id="{85D72B99-7173-4C09-872E-FB74EE96AA2D}"/>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Agent-to-Agent collaboration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96d774f3c1c4659"/>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4" name="IntelliPath  /  Connected resource workspace">
            <a:extLst xmlns:a="http://schemas.openxmlformats.org/drawingml/2006/main">
              <a:ext uri="{FF2B5EF4-FFF2-40B4-BE49-F238E27FC236}">
                <a16:creationId xmlns:a16="http://schemas.microsoft.com/office/drawing/2014/main" id="{5CE09D48-6ACE-41C9-9192-70476859B796}"/>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A6B9CB"/>
                </a:solidFill>
                <a:latin typeface="Arial"/>
                <a:ea typeface="Arial"/>
                <a:cs typeface="Arial"/>
              </a:defRPr>
            </a:pPr>
            <a:r>
              <a:rPr sz="1050" b="0">
                <a:solidFill>
                  <a:srgbClr val="A6B9CB"/>
                </a:solidFill>
                <a:latin typeface="Arial"/>
                <a:ea typeface="Arial"/>
                <a:cs typeface="Arial"/>
              </a:rPr>
              <a:t>IntelliPath  /  Connected resource workspace</a:t>
            </a:r>
          </a:p>
        </p:txBody>
      </p:sp>
      <p:sp>
        <p:nvSpPr>
          <p:cNvPr id="5" name="04">
            <a:extLst xmlns:a="http://schemas.openxmlformats.org/drawingml/2006/main">
              <a:ext uri="{FF2B5EF4-FFF2-40B4-BE49-F238E27FC236}">
                <a16:creationId xmlns:a16="http://schemas.microsoft.com/office/drawing/2014/main" id="{BC3849DA-BF4F-45DD-9336-BA15AC0F6C7B}"/>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6B9CB"/>
                </a:solidFill>
                <a:latin typeface="Arial"/>
                <a:ea typeface="Arial"/>
                <a:cs typeface="Arial"/>
              </a:defRPr>
            </a:pPr>
            <a:r>
              <a:rPr sz="1275" b="0">
                <a:solidFill>
                  <a:srgbClr val="A6B9CB"/>
                </a:solidFill>
                <a:latin typeface="Arial"/>
                <a:ea typeface="Arial"/>
                <a:cs typeface="Arial"/>
              </a:rPr>
              <a:t>04</a:t>
            </a:r>
          </a:p>
        </p:txBody>
      </p:sp>
      <p:sp>
        <p:nvSpPr>
          <p:cNvPr id="6" name="A specialist’s result becomes the next specia">
            <a:extLst xmlns:a="http://schemas.openxmlformats.org/drawingml/2006/main">
              <a:ext uri="{FF2B5EF4-FFF2-40B4-BE49-F238E27FC236}">
                <a16:creationId xmlns:a16="http://schemas.microsoft.com/office/drawing/2014/main" id="{BAE2E5D4-C77E-4E52-A3B5-6CBAA1D23F0D}"/>
              </a:ext>
            </a:extLst>
          </p:cNvPr>
          <p:cNvSpPr>
            <a:spLocks xmlns:a="http://schemas.openxmlformats.org/drawingml/2006/main" noGrp="1"/>
          </p:cNvSpPr>
          <p:nvPr/>
        </p:nvSpPr>
        <p:spPr>
          <a:xfrm xmlns:a="http://schemas.openxmlformats.org/drawingml/2006/main">
            <a:off x="533400" y="1838325"/>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A specialist’s result becomes the next specialist’s context.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999acf336d64098"/>
          <a:stretch xmlns:a="http://schemas.openxmlformats.org/drawingml/2006/main"/>
        </p:blipFill>
        <p:spPr>
          <a:xfrm xmlns:a="http://schemas.openxmlformats.org/drawingml/2006/main">
            <a:off x="533400" y="3209925"/>
            <a:ext cx="11125200" cy="685800"/>
          </a:xfrm>
          <a:prstGeom xmlns:a="http://schemas.openxmlformats.org/drawingml/2006/main" prst="rect">
            <a:avLst/>
          </a:prstGeom>
        </p:spPr>
      </p:pic>
      <p:sp>
        <p:nvSpPr>
          <p:cNvPr id="8" name="Question">
            <a:extLst xmlns:a="http://schemas.openxmlformats.org/drawingml/2006/main">
              <a:ext uri="{FF2B5EF4-FFF2-40B4-BE49-F238E27FC236}">
                <a16:creationId xmlns:a16="http://schemas.microsoft.com/office/drawing/2014/main" id="{3BBBB8CD-40BE-4637-9F6A-E3592F281DCF}"/>
              </a:ext>
            </a:extLst>
          </p:cNvPr>
          <p:cNvSpPr>
            <a:spLocks xmlns:a="http://schemas.openxmlformats.org/drawingml/2006/main" noGrp="1"/>
          </p:cNvSpPr>
          <p:nvPr/>
        </p:nvSpPr>
        <p:spPr>
          <a:xfrm xmlns:a="http://schemas.openxmlformats.org/drawingml/2006/main">
            <a:off x="533400" y="2638425"/>
            <a:ext cx="205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Question</a:t>
            </a:r>
          </a:p>
        </p:txBody>
      </p:sp>
      <p:sp>
        <p:nvSpPr>
          <p:cNvPr id="9" name="Find the right help&#10;for this equipment.">
            <a:extLst xmlns:a="http://schemas.openxmlformats.org/drawingml/2006/main">
              <a:ext uri="{FF2B5EF4-FFF2-40B4-BE49-F238E27FC236}">
                <a16:creationId xmlns:a16="http://schemas.microsoft.com/office/drawing/2014/main" id="{284A0E0C-10AF-4E73-9ADE-FE50AE7C1BC6}"/>
              </a:ext>
            </a:extLst>
          </p:cNvPr>
          <p:cNvSpPr>
            <a:spLocks xmlns:a="http://schemas.openxmlformats.org/drawingml/2006/main" noGrp="1"/>
          </p:cNvSpPr>
          <p:nvPr/>
        </p:nvSpPr>
        <p:spPr>
          <a:xfrm xmlns:a="http://schemas.openxmlformats.org/drawingml/2006/main">
            <a:off x="533400" y="4219575"/>
            <a:ext cx="205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Find the right help</a:t>
            </a:r>
          </a:p>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for this equipment.</a:t>
            </a:r>
          </a:p>
        </p:txBody>
      </p:sp>
      <p:sp>
        <p:nvSpPr>
          <p:cNvPr id="10" name="Device&#10;Agent">
            <a:extLst xmlns:a="http://schemas.openxmlformats.org/drawingml/2006/main">
              <a:ext uri="{FF2B5EF4-FFF2-40B4-BE49-F238E27FC236}">
                <a16:creationId xmlns:a16="http://schemas.microsoft.com/office/drawing/2014/main" id="{8C69D31A-00AD-4059-86DD-5A3D21AA1350}"/>
              </a:ext>
            </a:extLst>
          </p:cNvPr>
          <p:cNvSpPr>
            <a:spLocks xmlns:a="http://schemas.openxmlformats.org/drawingml/2006/main" noGrp="1"/>
          </p:cNvSpPr>
          <p:nvPr/>
        </p:nvSpPr>
        <p:spPr>
          <a:xfrm xmlns:a="http://schemas.openxmlformats.org/drawingml/2006/main">
            <a:off x="2790825" y="2638425"/>
            <a:ext cx="205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Device</a:t>
            </a:r>
          </a:p>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Agent</a:t>
            </a:r>
          </a:p>
        </p:txBody>
      </p:sp>
      <p:sp>
        <p:nvSpPr>
          <p:cNvPr id="11" name="Identify the asset&#10;and its context.">
            <a:extLst xmlns:a="http://schemas.openxmlformats.org/drawingml/2006/main">
              <a:ext uri="{FF2B5EF4-FFF2-40B4-BE49-F238E27FC236}">
                <a16:creationId xmlns:a16="http://schemas.microsoft.com/office/drawing/2014/main" id="{C161FD2E-6F5B-4A31-B1D5-928FB1BC9046}"/>
              </a:ext>
            </a:extLst>
          </p:cNvPr>
          <p:cNvSpPr>
            <a:spLocks xmlns:a="http://schemas.openxmlformats.org/drawingml/2006/main" noGrp="1"/>
          </p:cNvSpPr>
          <p:nvPr/>
        </p:nvSpPr>
        <p:spPr>
          <a:xfrm xmlns:a="http://schemas.openxmlformats.org/drawingml/2006/main">
            <a:off x="2790825" y="4219575"/>
            <a:ext cx="205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Identify the asset</a:t>
            </a:r>
          </a:p>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and its context.</a:t>
            </a:r>
          </a:p>
        </p:txBody>
      </p:sp>
      <p:sp>
        <p:nvSpPr>
          <p:cNvPr id="12" name="Knowledge&#10;Agent">
            <a:extLst xmlns:a="http://schemas.openxmlformats.org/drawingml/2006/main">
              <a:ext uri="{FF2B5EF4-FFF2-40B4-BE49-F238E27FC236}">
                <a16:creationId xmlns:a16="http://schemas.microsoft.com/office/drawing/2014/main" id="{BB1379F4-CF1D-455B-A913-9F26216C4645}"/>
              </a:ext>
            </a:extLst>
          </p:cNvPr>
          <p:cNvSpPr>
            <a:spLocks xmlns:a="http://schemas.openxmlformats.org/drawingml/2006/main" noGrp="1"/>
          </p:cNvSpPr>
          <p:nvPr/>
        </p:nvSpPr>
        <p:spPr>
          <a:xfrm xmlns:a="http://schemas.openxmlformats.org/drawingml/2006/main">
            <a:off x="5048250" y="2638425"/>
            <a:ext cx="205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Knowledge</a:t>
            </a:r>
          </a:p>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Agent</a:t>
            </a:r>
          </a:p>
        </p:txBody>
      </p:sp>
      <p:sp>
        <p:nvSpPr>
          <p:cNvPr id="13" name="Find relevant&#10;procedures.">
            <a:extLst xmlns:a="http://schemas.openxmlformats.org/drawingml/2006/main">
              <a:ext uri="{FF2B5EF4-FFF2-40B4-BE49-F238E27FC236}">
                <a16:creationId xmlns:a16="http://schemas.microsoft.com/office/drawing/2014/main" id="{0AD5A0CA-ECB7-49BA-8BB8-05E3F262E8F9}"/>
              </a:ext>
            </a:extLst>
          </p:cNvPr>
          <p:cNvSpPr>
            <a:spLocks xmlns:a="http://schemas.openxmlformats.org/drawingml/2006/main" noGrp="1"/>
          </p:cNvSpPr>
          <p:nvPr/>
        </p:nvSpPr>
        <p:spPr>
          <a:xfrm xmlns:a="http://schemas.openxmlformats.org/drawingml/2006/main">
            <a:off x="5048250" y="4219575"/>
            <a:ext cx="205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Find relevant</a:t>
            </a:r>
          </a:p>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procedures.</a:t>
            </a:r>
          </a:p>
        </p:txBody>
      </p:sp>
      <p:sp>
        <p:nvSpPr>
          <p:cNvPr id="14" name="People&#10;Agent">
            <a:extLst xmlns:a="http://schemas.openxmlformats.org/drawingml/2006/main">
              <a:ext uri="{FF2B5EF4-FFF2-40B4-BE49-F238E27FC236}">
                <a16:creationId xmlns:a16="http://schemas.microsoft.com/office/drawing/2014/main" id="{5D7121F2-2BCB-4F87-8AD2-4A3056F43488}"/>
              </a:ext>
            </a:extLst>
          </p:cNvPr>
          <p:cNvSpPr>
            <a:spLocks xmlns:a="http://schemas.openxmlformats.org/drawingml/2006/main" noGrp="1"/>
          </p:cNvSpPr>
          <p:nvPr/>
        </p:nvSpPr>
        <p:spPr>
          <a:xfrm xmlns:a="http://schemas.openxmlformats.org/drawingml/2006/main">
            <a:off x="7305675" y="2638425"/>
            <a:ext cx="205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People</a:t>
            </a:r>
          </a:p>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Agent</a:t>
            </a:r>
          </a:p>
        </p:txBody>
      </p:sp>
      <p:sp>
        <p:nvSpPr>
          <p:cNvPr id="15" name="Find an expert&#10;and their location.">
            <a:extLst xmlns:a="http://schemas.openxmlformats.org/drawingml/2006/main">
              <a:ext uri="{FF2B5EF4-FFF2-40B4-BE49-F238E27FC236}">
                <a16:creationId xmlns:a16="http://schemas.microsoft.com/office/drawing/2014/main" id="{989CEED1-D2B5-4CC9-B701-8421B4074784}"/>
              </a:ext>
            </a:extLst>
          </p:cNvPr>
          <p:cNvSpPr>
            <a:spLocks xmlns:a="http://schemas.openxmlformats.org/drawingml/2006/main" noGrp="1"/>
          </p:cNvSpPr>
          <p:nvPr/>
        </p:nvSpPr>
        <p:spPr>
          <a:xfrm xmlns:a="http://schemas.openxmlformats.org/drawingml/2006/main">
            <a:off x="7305675" y="4219575"/>
            <a:ext cx="205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Find an expert</a:t>
            </a:r>
          </a:p>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and their location.</a:t>
            </a:r>
          </a:p>
        </p:txBody>
      </p:sp>
      <p:sp>
        <p:nvSpPr>
          <p:cNvPr id="16" name="Evidence">
            <a:extLst xmlns:a="http://schemas.openxmlformats.org/drawingml/2006/main">
              <a:ext uri="{FF2B5EF4-FFF2-40B4-BE49-F238E27FC236}">
                <a16:creationId xmlns:a16="http://schemas.microsoft.com/office/drawing/2014/main" id="{25562B4A-6B6F-4602-86D4-10567F89CD19}"/>
              </a:ext>
            </a:extLst>
          </p:cNvPr>
          <p:cNvSpPr>
            <a:spLocks xmlns:a="http://schemas.openxmlformats.org/drawingml/2006/main" noGrp="1"/>
          </p:cNvSpPr>
          <p:nvPr/>
        </p:nvSpPr>
        <p:spPr>
          <a:xfrm xmlns:a="http://schemas.openxmlformats.org/drawingml/2006/main">
            <a:off x="9563100" y="2638425"/>
            <a:ext cx="205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Evidence</a:t>
            </a:r>
          </a:p>
        </p:txBody>
      </p:sp>
      <p:sp>
        <p:nvSpPr>
          <p:cNvPr id="17" name="Bring the findings&#10;back together.">
            <a:extLst xmlns:a="http://schemas.openxmlformats.org/drawingml/2006/main">
              <a:ext uri="{FF2B5EF4-FFF2-40B4-BE49-F238E27FC236}">
                <a16:creationId xmlns:a16="http://schemas.microsoft.com/office/drawing/2014/main" id="{E684DD73-898C-405D-8795-7461A46410DF}"/>
              </a:ext>
            </a:extLst>
          </p:cNvPr>
          <p:cNvSpPr>
            <a:spLocks xmlns:a="http://schemas.openxmlformats.org/drawingml/2006/main" noGrp="1"/>
          </p:cNvSpPr>
          <p:nvPr/>
        </p:nvSpPr>
        <p:spPr>
          <a:xfrm xmlns:a="http://schemas.openxmlformats.org/drawingml/2006/main">
            <a:off x="9563100" y="4219575"/>
            <a:ext cx="205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Bring the findings</a:t>
            </a:r>
          </a:p>
          <a:p xmlns:a="http://schemas.openxmlformats.org/drawingml/2006/main">
            <a:pPr>
              <a:defRPr sz="1800" b="0">
                <a:solidFill>
                  <a:srgbClr val="BCD0E0"/>
                </a:solidFill>
                <a:latin typeface="Arial"/>
                <a:ea typeface="Arial"/>
                <a:cs typeface="Arial"/>
              </a:defRPr>
            </a:pPr>
            <a:r>
              <a:rPr sz="1800" b="0">
                <a:solidFill>
                  <a:srgbClr val="BCD0E0"/>
                </a:solidFill>
                <a:latin typeface="Arial"/>
                <a:ea typeface="Arial"/>
                <a:cs typeface="Arial"/>
              </a:rPr>
              <a:t>back together.</a:t>
            </a:r>
          </a:p>
        </p:txBody>
      </p:sp>
      <p:sp>
        <p:nvSpPr>
          <p:cNvPr id="18" name="Workflow vision: sequential handoffs between ">
            <a:extLst xmlns:a="http://schemas.openxmlformats.org/drawingml/2006/main">
              <a:ext uri="{FF2B5EF4-FFF2-40B4-BE49-F238E27FC236}">
                <a16:creationId xmlns:a16="http://schemas.microsoft.com/office/drawing/2014/main" id="{4911C0E6-C1C7-44A3-A2E8-4E5C8A59E6EF}"/>
              </a:ext>
            </a:extLst>
          </p:cNvPr>
          <p:cNvSpPr>
            <a:spLocks xmlns:a="http://schemas.openxmlformats.org/drawingml/2006/main" noGrp="1"/>
          </p:cNvSpPr>
          <p:nvPr/>
        </p:nvSpPr>
        <p:spPr>
          <a:xfrm xmlns:a="http://schemas.openxmlformats.org/drawingml/2006/main">
            <a:off x="533400" y="5486400"/>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9D9EF"/>
                </a:solidFill>
                <a:latin typeface="Arial"/>
                <a:ea typeface="Arial"/>
                <a:cs typeface="Arial"/>
              </a:defRPr>
            </a:pPr>
            <a:r>
              <a:rPr sz="1800" b="1">
                <a:solidFill>
                  <a:srgbClr val="A9D9EF"/>
                </a:solidFill>
                <a:latin typeface="Arial"/>
                <a:ea typeface="Arial"/>
                <a:cs typeface="Arial"/>
              </a:rPr>
              <a:t>Workflow vision: sequential handoffs between specialists</a:t>
            </a:r>
          </a:p>
        </p:txBody>
      </p:sp>
      <p:sp>
        <p:nvSpPr>
          <p:cNvPr id="19" name="Available today: a coordinator routes local s">
            <a:extLst xmlns:a="http://schemas.openxmlformats.org/drawingml/2006/main">
              <a:ext uri="{FF2B5EF4-FFF2-40B4-BE49-F238E27FC236}">
                <a16:creationId xmlns:a16="http://schemas.microsoft.com/office/drawing/2014/main" id="{D4D7ADFF-CC99-49BF-BC43-C245FD9EF46B}"/>
              </a:ext>
            </a:extLst>
          </p:cNvPr>
          <p:cNvSpPr>
            <a:spLocks xmlns:a="http://schemas.openxmlformats.org/drawingml/2006/main" noGrp="1"/>
          </p:cNvSpPr>
          <p:nvPr/>
        </p:nvSpPr>
        <p:spPr>
          <a:xfrm xmlns:a="http://schemas.openxmlformats.org/drawingml/2006/main">
            <a:off x="533400" y="59055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BCD0E0"/>
                </a:solidFill>
                <a:latin typeface="Arial"/>
                <a:ea typeface="Arial"/>
                <a:cs typeface="Arial"/>
              </a:defRPr>
            </a:pPr>
            <a:r>
              <a:rPr sz="1725" b="0">
                <a:solidFill>
                  <a:srgbClr val="BCD0E0"/>
                </a:solidFill>
                <a:latin typeface="Arial"/>
                <a:ea typeface="Arial"/>
                <a:cs typeface="Arial"/>
              </a:rPr>
              <a:t>Available today: a coordinator routes local searches and combines their evidence.</a:t>
            </a:r>
          </a:p>
        </p:txBody>
      </p:sp>
    </p:spTree>
    <p:extLst>
      <p:ext uri="{BB962C8B-B14F-4D97-AF65-F5344CB8AC3E}">
        <p14:creationId xmlns:p14="http://schemas.microsoft.com/office/powerpoint/2010/main" val="1149526909"/>
      </p:ext>
    </p:extLst>
  </p:cSld>
  <p:transition spd="slow"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bf5962fc7314f62"/>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ACTUAL WORKSPACE">
            <a:extLst xmlns:a="http://schemas.openxmlformats.org/drawingml/2006/main">
              <a:ext uri="{FF2B5EF4-FFF2-40B4-BE49-F238E27FC236}">
                <a16:creationId xmlns:a16="http://schemas.microsoft.com/office/drawing/2014/main" id="{59B2907D-938C-4D32-84E7-8082F903153B}"/>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ACTUAL WORKSPACE</a:t>
            </a:r>
          </a:p>
        </p:txBody>
      </p:sp>
      <p:sp>
        <p:nvSpPr>
          <p:cNvPr id="3" name="Specialist search in action">
            <a:extLst xmlns:a="http://schemas.openxmlformats.org/drawingml/2006/main">
              <a:ext uri="{FF2B5EF4-FFF2-40B4-BE49-F238E27FC236}">
                <a16:creationId xmlns:a16="http://schemas.microsoft.com/office/drawing/2014/main" id="{039A1F80-DDD5-4ADA-8DF5-CB8779796F30}"/>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Specialist search in action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a79bde2315c4530"/>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90351618-E903-46C6-BA0F-0265E0ADEC98}"/>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5">
            <a:extLst xmlns:a="http://schemas.openxmlformats.org/drawingml/2006/main">
              <a:ext uri="{FF2B5EF4-FFF2-40B4-BE49-F238E27FC236}">
                <a16:creationId xmlns:a16="http://schemas.microsoft.com/office/drawing/2014/main" id="{E81FD0A2-C017-4BE5-BDEC-A8B6CCB447A5}"/>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f841c9964b44d19"/>
          <a:stretch xmlns:a="http://schemas.openxmlformats.org/drawingml/2006/main"/>
        </p:blipFill>
        <p:spPr>
          <a:xfrm xmlns:a="http://schemas.openxmlformats.org/drawingml/2006/main">
            <a:off x="533400" y="2262424"/>
            <a:ext cx="7791450" cy="3266602"/>
          </a:xfrm>
          <a:prstGeom xmlns:a="http://schemas.openxmlformats.org/drawingml/2006/main" prst="rect">
            <a:avLst/>
          </a:prstGeom>
        </p:spPr>
      </p:pic>
      <p:sp>
        <p:nvSpPr>
          <p:cNvPr id="8" name="One query">
            <a:extLst xmlns:a="http://schemas.openxmlformats.org/drawingml/2006/main">
              <a:ext uri="{FF2B5EF4-FFF2-40B4-BE49-F238E27FC236}">
                <a16:creationId xmlns:a16="http://schemas.microsoft.com/office/drawing/2014/main" id="{3B399CC7-BE9A-429C-A332-C19100FD624F}"/>
              </a:ext>
            </a:extLst>
          </p:cNvPr>
          <p:cNvSpPr>
            <a:spLocks xmlns:a="http://schemas.openxmlformats.org/drawingml/2006/main" noGrp="1"/>
          </p:cNvSpPr>
          <p:nvPr/>
        </p:nvSpPr>
        <p:spPr>
          <a:xfrm xmlns:a="http://schemas.openxmlformats.org/drawingml/2006/main">
            <a:off x="8724900" y="1933575"/>
            <a:ext cx="293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One query</a:t>
            </a:r>
          </a:p>
        </p:txBody>
      </p:sp>
      <p:sp>
        <p:nvSpPr>
          <p:cNvPr id="9" name="pump maintenance">
            <a:extLst xmlns:a="http://schemas.openxmlformats.org/drawingml/2006/main">
              <a:ext uri="{FF2B5EF4-FFF2-40B4-BE49-F238E27FC236}">
                <a16:creationId xmlns:a16="http://schemas.microsoft.com/office/drawing/2014/main" id="{2BCE9773-9042-4914-A9EF-D28F3A87D6CD}"/>
              </a:ext>
            </a:extLst>
          </p:cNvPr>
          <p:cNvSpPr>
            <a:spLocks xmlns:a="http://schemas.openxmlformats.org/drawingml/2006/main" noGrp="1"/>
          </p:cNvSpPr>
          <p:nvPr/>
        </p:nvSpPr>
        <p:spPr>
          <a:xfrm xmlns:a="http://schemas.openxmlformats.org/drawingml/2006/main">
            <a:off x="8724900" y="24098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005BCB"/>
                </a:solidFill>
                <a:latin typeface="Arial"/>
                <a:ea typeface="Arial"/>
                <a:cs typeface="Arial"/>
              </a:defRPr>
            </a:pPr>
            <a:r>
              <a:rPr sz="2025" b="1">
                <a:solidFill>
                  <a:srgbClr val="005BCB"/>
                </a:solidFill>
                <a:latin typeface="Arial"/>
                <a:ea typeface="Arial"/>
                <a:cs typeface="Arial"/>
              </a:rPr>
              <a:t>pump maintenance</a:t>
            </a:r>
          </a:p>
        </p:txBody>
      </p:sp>
      <p:sp>
        <p:nvSpPr>
          <p:cNvPr id="10" name="Five specialists">
            <a:extLst xmlns:a="http://schemas.openxmlformats.org/drawingml/2006/main">
              <a:ext uri="{FF2B5EF4-FFF2-40B4-BE49-F238E27FC236}">
                <a16:creationId xmlns:a16="http://schemas.microsoft.com/office/drawing/2014/main" id="{05D50170-4CA4-4D86-A193-A5DE8FD232AC}"/>
              </a:ext>
            </a:extLst>
          </p:cNvPr>
          <p:cNvSpPr>
            <a:spLocks xmlns:a="http://schemas.openxmlformats.org/drawingml/2006/main" noGrp="1"/>
          </p:cNvSpPr>
          <p:nvPr/>
        </p:nvSpPr>
        <p:spPr>
          <a:xfrm xmlns:a="http://schemas.openxmlformats.org/drawingml/2006/main">
            <a:off x="8724900" y="3352800"/>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Five specialists</a:t>
            </a:r>
          </a:p>
        </p:txBody>
      </p:sp>
      <p:sp>
        <p:nvSpPr>
          <p:cNvPr id="11" name="A visible execution trace explains the search">
            <a:extLst xmlns:a="http://schemas.openxmlformats.org/drawingml/2006/main">
              <a:ext uri="{FF2B5EF4-FFF2-40B4-BE49-F238E27FC236}">
                <a16:creationId xmlns:a16="http://schemas.microsoft.com/office/drawing/2014/main" id="{D34B9D07-7C56-4933-8ABC-1CBCE408CC86}"/>
              </a:ext>
            </a:extLst>
          </p:cNvPr>
          <p:cNvSpPr>
            <a:spLocks xmlns:a="http://schemas.openxmlformats.org/drawingml/2006/main" noGrp="1"/>
          </p:cNvSpPr>
          <p:nvPr/>
        </p:nvSpPr>
        <p:spPr>
          <a:xfrm xmlns:a="http://schemas.openxmlformats.org/drawingml/2006/main">
            <a:off x="8724900" y="3810000"/>
            <a:ext cx="2933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A visible execution trace explains the search.</a:t>
            </a:r>
          </a:p>
        </p:txBody>
      </p:sp>
      <p:sp>
        <p:nvSpPr>
          <p:cNvPr id="12" name="Shared evidence">
            <a:extLst xmlns:a="http://schemas.openxmlformats.org/drawingml/2006/main">
              <a:ext uri="{FF2B5EF4-FFF2-40B4-BE49-F238E27FC236}">
                <a16:creationId xmlns:a16="http://schemas.microsoft.com/office/drawing/2014/main" id="{8C4E3CF7-A935-41C3-87B6-FD5E12A892A5}"/>
              </a:ext>
            </a:extLst>
          </p:cNvPr>
          <p:cNvSpPr>
            <a:spLocks xmlns:a="http://schemas.openxmlformats.org/drawingml/2006/main" noGrp="1"/>
          </p:cNvSpPr>
          <p:nvPr/>
        </p:nvSpPr>
        <p:spPr>
          <a:xfrm xmlns:a="http://schemas.openxmlformats.org/drawingml/2006/main">
            <a:off x="8724900" y="4876800"/>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Shared evidence</a:t>
            </a:r>
          </a:p>
        </p:txBody>
      </p:sp>
      <p:sp>
        <p:nvSpPr>
          <p:cNvPr id="13" name="Results show which agent found each record.">
            <a:extLst xmlns:a="http://schemas.openxmlformats.org/drawingml/2006/main">
              <a:ext uri="{FF2B5EF4-FFF2-40B4-BE49-F238E27FC236}">
                <a16:creationId xmlns:a16="http://schemas.microsoft.com/office/drawing/2014/main" id="{BC28DAFC-C03F-450D-8A18-95E58B2F0157}"/>
              </a:ext>
            </a:extLst>
          </p:cNvPr>
          <p:cNvSpPr>
            <a:spLocks xmlns:a="http://schemas.openxmlformats.org/drawingml/2006/main" noGrp="1"/>
          </p:cNvSpPr>
          <p:nvPr/>
        </p:nvSpPr>
        <p:spPr>
          <a:xfrm xmlns:a="http://schemas.openxmlformats.org/drawingml/2006/main">
            <a:off x="8724900" y="5334000"/>
            <a:ext cx="2933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Results show which agent found each record.</a:t>
            </a:r>
          </a:p>
        </p:txBody>
      </p:sp>
    </p:spTree>
    <p:extLst>
      <p:ext uri="{BB962C8B-B14F-4D97-AF65-F5344CB8AC3E}">
        <p14:creationId xmlns:p14="http://schemas.microsoft.com/office/powerpoint/2010/main" val="1473198330"/>
      </p:ext>
    </p:extLst>
  </p:cSld>
  <p:transition spd="slow"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8304bc8754d4748"/>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ACCESS SCOPES">
            <a:extLst xmlns:a="http://schemas.openxmlformats.org/drawingml/2006/main">
              <a:ext uri="{FF2B5EF4-FFF2-40B4-BE49-F238E27FC236}">
                <a16:creationId xmlns:a16="http://schemas.microsoft.com/office/drawing/2014/main" id="{6C2A5321-B1A1-400F-B32E-A4C1B164C097}"/>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ACCESS SCOPES</a:t>
            </a:r>
          </a:p>
        </p:txBody>
      </p:sp>
      <p:sp>
        <p:nvSpPr>
          <p:cNvPr id="3" name="Five roles. Five views.">
            <a:extLst xmlns:a="http://schemas.openxmlformats.org/drawingml/2006/main">
              <a:ext uri="{FF2B5EF4-FFF2-40B4-BE49-F238E27FC236}">
                <a16:creationId xmlns:a16="http://schemas.microsoft.com/office/drawing/2014/main" id="{B1770004-7A07-4B37-982F-36DCB7606DE4}"/>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Five roles. Five views.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073625ab734482b"/>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31934F4E-2C17-4C9E-81E3-3E20AC81BFD9}"/>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6">
            <a:extLst xmlns:a="http://schemas.openxmlformats.org/drawingml/2006/main">
              <a:ext uri="{FF2B5EF4-FFF2-40B4-BE49-F238E27FC236}">
                <a16:creationId xmlns:a16="http://schemas.microsoft.com/office/drawing/2014/main" id="{17E34AC3-6BC9-44E2-8733-559666AA44D2}"/>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06</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b9068ec215487f"/>
          <a:stretch xmlns:a="http://schemas.openxmlformats.org/drawingml/2006/main"/>
        </p:blipFill>
        <p:spPr>
          <a:xfrm xmlns:a="http://schemas.openxmlformats.org/drawingml/2006/main">
            <a:off x="533400" y="1772708"/>
            <a:ext cx="6705600" cy="4284133"/>
          </a:xfrm>
          <a:prstGeom xmlns:a="http://schemas.openxmlformats.org/drawingml/2006/main" prst="rect">
            <a:avLst/>
          </a:prstGeom>
        </p:spPr>
      </p:pic>
      <p:sp>
        <p:nvSpPr>
          <p:cNvPr id="8" name="Admin">
            <a:extLst xmlns:a="http://schemas.openxmlformats.org/drawingml/2006/main">
              <a:ext uri="{FF2B5EF4-FFF2-40B4-BE49-F238E27FC236}">
                <a16:creationId xmlns:a16="http://schemas.microsoft.com/office/drawing/2014/main" id="{E767A978-872A-43E7-AA8B-F13003E3BAAC}"/>
              </a:ext>
            </a:extLst>
          </p:cNvPr>
          <p:cNvSpPr>
            <a:spLocks xmlns:a="http://schemas.openxmlformats.org/drawingml/2006/main" noGrp="1"/>
          </p:cNvSpPr>
          <p:nvPr/>
        </p:nvSpPr>
        <p:spPr>
          <a:xfrm xmlns:a="http://schemas.openxmlformats.org/drawingml/2006/main">
            <a:off x="7724775" y="19145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Admin</a:t>
            </a:r>
          </a:p>
        </p:txBody>
      </p:sp>
      <p:sp>
        <p:nvSpPr>
          <p:cNvPr id="9" name="All five access groups">
            <a:extLst xmlns:a="http://schemas.openxmlformats.org/drawingml/2006/main">
              <a:ext uri="{FF2B5EF4-FFF2-40B4-BE49-F238E27FC236}">
                <a16:creationId xmlns:a16="http://schemas.microsoft.com/office/drawing/2014/main" id="{528EFB3D-1549-497F-A141-ED949421F7A1}"/>
              </a:ext>
            </a:extLst>
          </p:cNvPr>
          <p:cNvSpPr>
            <a:spLocks xmlns:a="http://schemas.openxmlformats.org/drawingml/2006/main" noGrp="1"/>
          </p:cNvSpPr>
          <p:nvPr/>
        </p:nvSpPr>
        <p:spPr>
          <a:xfrm xmlns:a="http://schemas.openxmlformats.org/drawingml/2006/main">
            <a:off x="7724775" y="22955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26B80"/>
                </a:solidFill>
                <a:latin typeface="Arial"/>
                <a:ea typeface="Arial"/>
                <a:cs typeface="Arial"/>
              </a:defRPr>
            </a:pPr>
            <a:r>
              <a:rPr sz="1725" b="0">
                <a:solidFill>
                  <a:srgbClr val="526B80"/>
                </a:solidFill>
                <a:latin typeface="Arial"/>
                <a:ea typeface="Arial"/>
                <a:cs typeface="Arial"/>
              </a:rPr>
              <a:t>All five access groups</a:t>
            </a:r>
          </a:p>
        </p:txBody>
      </p:sp>
      <p:sp>
        <p:nvSpPr>
          <p:cNvPr id="10" name="Manager">
            <a:extLst xmlns:a="http://schemas.openxmlformats.org/drawingml/2006/main">
              <a:ext uri="{FF2B5EF4-FFF2-40B4-BE49-F238E27FC236}">
                <a16:creationId xmlns:a16="http://schemas.microsoft.com/office/drawing/2014/main" id="{BB392111-F07B-4F72-AFA0-694F6F74C852}"/>
              </a:ext>
            </a:extLst>
          </p:cNvPr>
          <p:cNvSpPr>
            <a:spLocks xmlns:a="http://schemas.openxmlformats.org/drawingml/2006/main" noGrp="1"/>
          </p:cNvSpPr>
          <p:nvPr/>
        </p:nvSpPr>
        <p:spPr>
          <a:xfrm xmlns:a="http://schemas.openxmlformats.org/drawingml/2006/main">
            <a:off x="7724775" y="277177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Manager</a:t>
            </a:r>
          </a:p>
        </p:txBody>
      </p:sp>
      <p:sp>
        <p:nvSpPr>
          <p:cNvPr id="11" name="Manager and lower groups">
            <a:extLst xmlns:a="http://schemas.openxmlformats.org/drawingml/2006/main">
              <a:ext uri="{FF2B5EF4-FFF2-40B4-BE49-F238E27FC236}">
                <a16:creationId xmlns:a16="http://schemas.microsoft.com/office/drawing/2014/main" id="{141DA8BE-036C-417C-874B-D0FE96003FE2}"/>
              </a:ext>
            </a:extLst>
          </p:cNvPr>
          <p:cNvSpPr>
            <a:spLocks xmlns:a="http://schemas.openxmlformats.org/drawingml/2006/main" noGrp="1"/>
          </p:cNvSpPr>
          <p:nvPr/>
        </p:nvSpPr>
        <p:spPr>
          <a:xfrm xmlns:a="http://schemas.openxmlformats.org/drawingml/2006/main">
            <a:off x="7724775" y="315277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26B80"/>
                </a:solidFill>
                <a:latin typeface="Arial"/>
                <a:ea typeface="Arial"/>
                <a:cs typeface="Arial"/>
              </a:defRPr>
            </a:pPr>
            <a:r>
              <a:rPr sz="1725" b="0">
                <a:solidFill>
                  <a:srgbClr val="526B80"/>
                </a:solidFill>
                <a:latin typeface="Arial"/>
                <a:ea typeface="Arial"/>
                <a:cs typeface="Arial"/>
              </a:rPr>
              <a:t>Manager and lower groups</a:t>
            </a:r>
          </a:p>
        </p:txBody>
      </p:sp>
      <p:sp>
        <p:nvSpPr>
          <p:cNvPr id="12" name="Analysis">
            <a:extLst xmlns:a="http://schemas.openxmlformats.org/drawingml/2006/main">
              <a:ext uri="{FF2B5EF4-FFF2-40B4-BE49-F238E27FC236}">
                <a16:creationId xmlns:a16="http://schemas.microsoft.com/office/drawing/2014/main" id="{005936A5-197F-429A-8C1B-7DA609EBB2D7}"/>
              </a:ext>
            </a:extLst>
          </p:cNvPr>
          <p:cNvSpPr>
            <a:spLocks xmlns:a="http://schemas.openxmlformats.org/drawingml/2006/main" noGrp="1"/>
          </p:cNvSpPr>
          <p:nvPr/>
        </p:nvSpPr>
        <p:spPr>
          <a:xfrm xmlns:a="http://schemas.openxmlformats.org/drawingml/2006/main">
            <a:off x="7724775" y="36290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Analysis</a:t>
            </a:r>
          </a:p>
        </p:txBody>
      </p:sp>
      <p:sp>
        <p:nvSpPr>
          <p:cNvPr id="13" name="Analysis and lower groups">
            <a:extLst xmlns:a="http://schemas.openxmlformats.org/drawingml/2006/main">
              <a:ext uri="{FF2B5EF4-FFF2-40B4-BE49-F238E27FC236}">
                <a16:creationId xmlns:a16="http://schemas.microsoft.com/office/drawing/2014/main" id="{A2E4729E-CD6E-4D5F-9363-7453EF30B7B4}"/>
              </a:ext>
            </a:extLst>
          </p:cNvPr>
          <p:cNvSpPr>
            <a:spLocks xmlns:a="http://schemas.openxmlformats.org/drawingml/2006/main" noGrp="1"/>
          </p:cNvSpPr>
          <p:nvPr/>
        </p:nvSpPr>
        <p:spPr>
          <a:xfrm xmlns:a="http://schemas.openxmlformats.org/drawingml/2006/main">
            <a:off x="7724775" y="40100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26B80"/>
                </a:solidFill>
                <a:latin typeface="Arial"/>
                <a:ea typeface="Arial"/>
                <a:cs typeface="Arial"/>
              </a:defRPr>
            </a:pPr>
            <a:r>
              <a:rPr sz="1725" b="0">
                <a:solidFill>
                  <a:srgbClr val="526B80"/>
                </a:solidFill>
                <a:latin typeface="Arial"/>
                <a:ea typeface="Arial"/>
                <a:cs typeface="Arial"/>
              </a:rPr>
              <a:t>Analysis and lower groups</a:t>
            </a:r>
          </a:p>
        </p:txBody>
      </p:sp>
      <p:sp>
        <p:nvSpPr>
          <p:cNvPr id="14" name="Engineer">
            <a:extLst xmlns:a="http://schemas.openxmlformats.org/drawingml/2006/main">
              <a:ext uri="{FF2B5EF4-FFF2-40B4-BE49-F238E27FC236}">
                <a16:creationId xmlns:a16="http://schemas.microsoft.com/office/drawing/2014/main" id="{6E424241-A994-4EB4-B708-D4BA02201B1F}"/>
              </a:ext>
            </a:extLst>
          </p:cNvPr>
          <p:cNvSpPr>
            <a:spLocks xmlns:a="http://schemas.openxmlformats.org/drawingml/2006/main" noGrp="1"/>
          </p:cNvSpPr>
          <p:nvPr/>
        </p:nvSpPr>
        <p:spPr>
          <a:xfrm xmlns:a="http://schemas.openxmlformats.org/drawingml/2006/main">
            <a:off x="7724775" y="448627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Engineer</a:t>
            </a:r>
          </a:p>
        </p:txBody>
      </p:sp>
      <p:sp>
        <p:nvSpPr>
          <p:cNvPr id="15" name="Engineer and Viewer">
            <a:extLst xmlns:a="http://schemas.openxmlformats.org/drawingml/2006/main">
              <a:ext uri="{FF2B5EF4-FFF2-40B4-BE49-F238E27FC236}">
                <a16:creationId xmlns:a16="http://schemas.microsoft.com/office/drawing/2014/main" id="{C64A124C-54F1-475F-9A42-212E6A5A1483}"/>
              </a:ext>
            </a:extLst>
          </p:cNvPr>
          <p:cNvSpPr>
            <a:spLocks xmlns:a="http://schemas.openxmlformats.org/drawingml/2006/main" noGrp="1"/>
          </p:cNvSpPr>
          <p:nvPr/>
        </p:nvSpPr>
        <p:spPr>
          <a:xfrm xmlns:a="http://schemas.openxmlformats.org/drawingml/2006/main">
            <a:off x="7724775" y="486727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26B80"/>
                </a:solidFill>
                <a:latin typeface="Arial"/>
                <a:ea typeface="Arial"/>
                <a:cs typeface="Arial"/>
              </a:defRPr>
            </a:pPr>
            <a:r>
              <a:rPr sz="1725" b="0">
                <a:solidFill>
                  <a:srgbClr val="526B80"/>
                </a:solidFill>
                <a:latin typeface="Arial"/>
                <a:ea typeface="Arial"/>
                <a:cs typeface="Arial"/>
              </a:rPr>
              <a:t>Engineer and Viewer</a:t>
            </a:r>
          </a:p>
        </p:txBody>
      </p:sp>
      <p:sp>
        <p:nvSpPr>
          <p:cNvPr id="16" name="Viewer">
            <a:extLst xmlns:a="http://schemas.openxmlformats.org/drawingml/2006/main">
              <a:ext uri="{FF2B5EF4-FFF2-40B4-BE49-F238E27FC236}">
                <a16:creationId xmlns:a16="http://schemas.microsoft.com/office/drawing/2014/main" id="{F909AFB4-68AD-45A0-B1DA-CDF0D9975969}"/>
              </a:ext>
            </a:extLst>
          </p:cNvPr>
          <p:cNvSpPr>
            <a:spLocks xmlns:a="http://schemas.openxmlformats.org/drawingml/2006/main" noGrp="1"/>
          </p:cNvSpPr>
          <p:nvPr/>
        </p:nvSpPr>
        <p:spPr>
          <a:xfrm xmlns:a="http://schemas.openxmlformats.org/drawingml/2006/main">
            <a:off x="7724775" y="53435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Viewer</a:t>
            </a:r>
          </a:p>
        </p:txBody>
      </p:sp>
      <p:sp>
        <p:nvSpPr>
          <p:cNvPr id="17" name="Viewer records">
            <a:extLst xmlns:a="http://schemas.openxmlformats.org/drawingml/2006/main">
              <a:ext uri="{FF2B5EF4-FFF2-40B4-BE49-F238E27FC236}">
                <a16:creationId xmlns:a16="http://schemas.microsoft.com/office/drawing/2014/main" id="{8EC39F50-80D9-4690-A78F-8C251F4372EC}"/>
              </a:ext>
            </a:extLst>
          </p:cNvPr>
          <p:cNvSpPr>
            <a:spLocks xmlns:a="http://schemas.openxmlformats.org/drawingml/2006/main" noGrp="1"/>
          </p:cNvSpPr>
          <p:nvPr/>
        </p:nvSpPr>
        <p:spPr>
          <a:xfrm xmlns:a="http://schemas.openxmlformats.org/drawingml/2006/main">
            <a:off x="7724775" y="57245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26B80"/>
                </a:solidFill>
                <a:latin typeface="Arial"/>
                <a:ea typeface="Arial"/>
                <a:cs typeface="Arial"/>
              </a:defRPr>
            </a:pPr>
            <a:r>
              <a:rPr sz="1725" b="0">
                <a:solidFill>
                  <a:srgbClr val="526B80"/>
                </a:solidFill>
                <a:latin typeface="Arial"/>
                <a:ea typeface="Arial"/>
                <a:cs typeface="Arial"/>
              </a:rPr>
              <a:t>Viewer records</a:t>
            </a:r>
          </a:p>
        </p:txBody>
      </p:sp>
    </p:spTree>
    <p:extLst>
      <p:ext uri="{BB962C8B-B14F-4D97-AF65-F5344CB8AC3E}">
        <p14:creationId xmlns:p14="http://schemas.microsoft.com/office/powerpoint/2010/main" val="645589098"/>
      </p:ext>
    </p:extLst>
  </p:cSld>
  <p:transition spd="slow" advClick="1">
    <p:fade/>
  </p:transition>
</p:sld>
</file>

<file path=ppt/slides/slide7.xml><?xml version="1.0" encoding="utf-8"?>
<p:sld xmlns:p="http://schemas.openxmlformats.org/presentationml/2006/main">
  <p:cSld>
    <p:bg>
      <p:bgPr>
        <a:solidFill xmlns:a="http://schemas.openxmlformats.org/drawingml/2006/main">
          <a:srgbClr val="071B32"/>
        </a:solidFill>
      </p:bgPr>
    </p:bg>
    <p:spTree>
      <p:nvGrpSpPr>
        <p:cNvPr id="1" name=""/>
        <p:cNvGrpSpPr/>
        <p:nvPr/>
      </p:nvGrpSpPr>
      <p:grpSpPr>
        <a:xfrm xmlns:a="http://schemas.openxmlformats.org/drawingml/2006/main"/>
      </p:grpSpPr>
      <p:sp>
        <p:nvSpPr>
          <p:cNvPr id="12" name="OPERATIONAL ATTENTION">
            <a:extLst xmlns:a="http://schemas.openxmlformats.org/drawingml/2006/main">
              <a:ext uri="{FF2B5EF4-FFF2-40B4-BE49-F238E27FC236}">
                <a16:creationId xmlns:a16="http://schemas.microsoft.com/office/drawing/2014/main" id="{821055E2-2D08-405E-B67F-90A7432F1AAD}"/>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9D9EF"/>
                </a:solidFill>
                <a:latin typeface="Arial"/>
                <a:ea typeface="Arial"/>
                <a:cs typeface="Arial"/>
              </a:defRPr>
            </a:pPr>
            <a:r>
              <a:rPr sz="1275" b="1">
                <a:solidFill>
                  <a:srgbClr val="A9D9EF"/>
                </a:solidFill>
                <a:latin typeface="Arial"/>
                <a:ea typeface="Arial"/>
                <a:cs typeface="Arial"/>
              </a:rPr>
              <a:t>OPERATIONAL ATTENTION</a:t>
            </a:r>
          </a:p>
        </p:txBody>
      </p:sp>
      <p:sp>
        <p:nvSpPr>
          <p:cNvPr id="2" name="Cybersecurity Center">
            <a:extLst xmlns:a="http://schemas.openxmlformats.org/drawingml/2006/main">
              <a:ext uri="{FF2B5EF4-FFF2-40B4-BE49-F238E27FC236}">
                <a16:creationId xmlns:a16="http://schemas.microsoft.com/office/drawing/2014/main" id="{131CD7F9-C0C1-4586-8603-5670468016CB}"/>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Cybersecurity Center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2cc69da7e1f469e"/>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4" name="IntelliPath  /  Connected resource workspace">
            <a:extLst xmlns:a="http://schemas.openxmlformats.org/drawingml/2006/main">
              <a:ext uri="{FF2B5EF4-FFF2-40B4-BE49-F238E27FC236}">
                <a16:creationId xmlns:a16="http://schemas.microsoft.com/office/drawing/2014/main" id="{FD7B4DF2-34DA-47CD-8F9C-60D1B817F2B4}"/>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A6B9CB"/>
                </a:solidFill>
                <a:latin typeface="Arial"/>
                <a:ea typeface="Arial"/>
                <a:cs typeface="Arial"/>
              </a:defRPr>
            </a:pPr>
            <a:r>
              <a:rPr sz="1050" b="0">
                <a:solidFill>
                  <a:srgbClr val="A6B9CB"/>
                </a:solidFill>
                <a:latin typeface="Arial"/>
                <a:ea typeface="Arial"/>
                <a:cs typeface="Arial"/>
              </a:rPr>
              <a:t>IntelliPath  /  Connected resource workspace</a:t>
            </a:r>
          </a:p>
        </p:txBody>
      </p:sp>
      <p:sp>
        <p:nvSpPr>
          <p:cNvPr id="5" name="07">
            <a:extLst xmlns:a="http://schemas.openxmlformats.org/drawingml/2006/main">
              <a:ext uri="{FF2B5EF4-FFF2-40B4-BE49-F238E27FC236}">
                <a16:creationId xmlns:a16="http://schemas.microsoft.com/office/drawing/2014/main" id="{454583F3-10CB-47C8-AE80-AE0C7A2D03A6}"/>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6B9CB"/>
                </a:solidFill>
                <a:latin typeface="Arial"/>
                <a:ea typeface="Arial"/>
                <a:cs typeface="Arial"/>
              </a:defRPr>
            </a:pPr>
            <a:r>
              <a:rPr sz="1275" b="0">
                <a:solidFill>
                  <a:srgbClr val="A6B9CB"/>
                </a:solidFill>
                <a:latin typeface="Arial"/>
                <a:ea typeface="Arial"/>
                <a:cs typeface="Arial"/>
              </a:rPr>
              <a:t>07</a:t>
            </a:r>
          </a:p>
        </p:txBody>
      </p:sp>
      <p:sp>
        <p:nvSpPr>
          <p:cNvPr id="6" name="Incidents">
            <a:extLst xmlns:a="http://schemas.openxmlformats.org/drawingml/2006/main">
              <a:ext uri="{FF2B5EF4-FFF2-40B4-BE49-F238E27FC236}">
                <a16:creationId xmlns:a16="http://schemas.microsoft.com/office/drawing/2014/main" id="{CF9C8C8A-54D0-4CB0-844B-3598683965FE}"/>
              </a:ext>
            </a:extLst>
          </p:cNvPr>
          <p:cNvSpPr>
            <a:spLocks xmlns:a="http://schemas.openxmlformats.org/drawingml/2006/main" noGrp="1"/>
          </p:cNvSpPr>
          <p:nvPr/>
        </p:nvSpPr>
        <p:spPr>
          <a:xfrm xmlns:a="http://schemas.openxmlformats.org/drawingml/2006/main">
            <a:off x="533400" y="19812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Incidents</a:t>
            </a:r>
          </a:p>
        </p:txBody>
      </p:sp>
      <p:sp>
        <p:nvSpPr>
          <p:cNvPr id="7" name="Review severity and status in the incident wa">
            <a:extLst xmlns:a="http://schemas.openxmlformats.org/drawingml/2006/main">
              <a:ext uri="{FF2B5EF4-FFF2-40B4-BE49-F238E27FC236}">
                <a16:creationId xmlns:a16="http://schemas.microsoft.com/office/drawing/2014/main" id="{A44372BC-2DC7-4CAA-A5FC-72EE31837197}"/>
              </a:ext>
            </a:extLst>
          </p:cNvPr>
          <p:cNvSpPr>
            <a:spLocks xmlns:a="http://schemas.openxmlformats.org/drawingml/2006/main" noGrp="1"/>
          </p:cNvSpPr>
          <p:nvPr/>
        </p:nvSpPr>
        <p:spPr>
          <a:xfrm xmlns:a="http://schemas.openxmlformats.org/drawingml/2006/main">
            <a:off x="533400" y="2505075"/>
            <a:ext cx="34194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BCD0E0"/>
                </a:solidFill>
                <a:latin typeface="Arial"/>
                <a:ea typeface="Arial"/>
                <a:cs typeface="Arial"/>
              </a:defRPr>
            </a:pPr>
            <a:r>
              <a:rPr sz="2025" b="0">
                <a:solidFill>
                  <a:srgbClr val="BCD0E0"/>
                </a:solidFill>
                <a:latin typeface="Arial"/>
                <a:ea typeface="Arial"/>
                <a:cs typeface="Arial"/>
              </a:rPr>
              <a:t>Review severity and status in the incident watchlist.</a:t>
            </a:r>
          </a:p>
        </p:txBody>
      </p:sp>
      <p:sp>
        <p:nvSpPr>
          <p:cNvPr id="8" name="Remediation">
            <a:extLst xmlns:a="http://schemas.openxmlformats.org/drawingml/2006/main">
              <a:ext uri="{FF2B5EF4-FFF2-40B4-BE49-F238E27FC236}">
                <a16:creationId xmlns:a16="http://schemas.microsoft.com/office/drawing/2014/main" id="{45E6A826-5A2A-4FD9-99F1-535B8D27475A}"/>
              </a:ext>
            </a:extLst>
          </p:cNvPr>
          <p:cNvSpPr>
            <a:spLocks xmlns:a="http://schemas.openxmlformats.org/drawingml/2006/main" noGrp="1"/>
          </p:cNvSpPr>
          <p:nvPr/>
        </p:nvSpPr>
        <p:spPr>
          <a:xfrm xmlns:a="http://schemas.openxmlformats.org/drawingml/2006/main">
            <a:off x="533400" y="3895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Remediation</a:t>
            </a:r>
          </a:p>
        </p:txBody>
      </p:sp>
      <p:sp>
        <p:nvSpPr>
          <p:cNvPr id="9" name="Track the accountable owner, due date and ver">
            <a:extLst xmlns:a="http://schemas.openxmlformats.org/drawingml/2006/main">
              <a:ext uri="{FF2B5EF4-FFF2-40B4-BE49-F238E27FC236}">
                <a16:creationId xmlns:a16="http://schemas.microsoft.com/office/drawing/2014/main" id="{3F187E6A-6D97-4646-A4B5-036D68E6511C}"/>
              </a:ext>
            </a:extLst>
          </p:cNvPr>
          <p:cNvSpPr>
            <a:spLocks xmlns:a="http://schemas.openxmlformats.org/drawingml/2006/main" noGrp="1"/>
          </p:cNvSpPr>
          <p:nvPr/>
        </p:nvSpPr>
        <p:spPr>
          <a:xfrm xmlns:a="http://schemas.openxmlformats.org/drawingml/2006/main">
            <a:off x="533400" y="4419600"/>
            <a:ext cx="34194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BCD0E0"/>
                </a:solidFill>
                <a:latin typeface="Arial"/>
                <a:ea typeface="Arial"/>
                <a:cs typeface="Arial"/>
              </a:defRPr>
            </a:pPr>
            <a:r>
              <a:rPr sz="2025" b="0">
                <a:solidFill>
                  <a:srgbClr val="BCD0E0"/>
                </a:solidFill>
                <a:latin typeface="Arial"/>
                <a:ea typeface="Arial"/>
                <a:cs typeface="Arial"/>
              </a:rPr>
              <a:t>Track the accountable owner, due date and verification state.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7d14574c1b64e48"/>
          <a:stretch xmlns:a="http://schemas.openxmlformats.org/drawingml/2006/main"/>
        </p:blipFill>
        <p:spPr>
          <a:xfrm xmlns:a="http://schemas.openxmlformats.org/drawingml/2006/main">
            <a:off x="4438650" y="1894161"/>
            <a:ext cx="7219950" cy="4117427"/>
          </a:xfrm>
          <a:prstGeom xmlns:a="http://schemas.openxmlformats.org/drawingml/2006/main" prst="rect">
            <a:avLst/>
          </a:prstGeom>
        </p:spPr>
      </p:pic>
      <p:sp>
        <p:nvSpPr>
          <p:cNvPr id="11" name="Illustrative operational data">
            <a:extLst xmlns:a="http://schemas.openxmlformats.org/drawingml/2006/main">
              <a:ext uri="{FF2B5EF4-FFF2-40B4-BE49-F238E27FC236}">
                <a16:creationId xmlns:a16="http://schemas.microsoft.com/office/drawing/2014/main" id="{3240276E-2515-4B07-B816-AA289B4201A9}"/>
              </a:ext>
            </a:extLst>
          </p:cNvPr>
          <p:cNvSpPr>
            <a:spLocks xmlns:a="http://schemas.openxmlformats.org/drawingml/2006/main" noGrp="1"/>
          </p:cNvSpPr>
          <p:nvPr/>
        </p:nvSpPr>
        <p:spPr>
          <a:xfrm xmlns:a="http://schemas.openxmlformats.org/drawingml/2006/main">
            <a:off x="4486275" y="6181725"/>
            <a:ext cx="71723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A9D9EF"/>
                </a:solidFill>
                <a:latin typeface="Arial"/>
                <a:ea typeface="Arial"/>
                <a:cs typeface="Arial"/>
              </a:defRPr>
            </a:pPr>
            <a:r>
              <a:rPr sz="1200" b="0">
                <a:solidFill>
                  <a:srgbClr val="A9D9EF"/>
                </a:solidFill>
                <a:latin typeface="Arial"/>
                <a:ea typeface="Arial"/>
                <a:cs typeface="Arial"/>
              </a:rPr>
              <a:t>Illustrative operational data</a:t>
            </a:r>
          </a:p>
        </p:txBody>
      </p:sp>
    </p:spTree>
    <p:extLst>
      <p:ext uri="{BB962C8B-B14F-4D97-AF65-F5344CB8AC3E}">
        <p14:creationId xmlns:p14="http://schemas.microsoft.com/office/powerpoint/2010/main" val="1937539332"/>
      </p:ext>
    </p:extLst>
  </p:cSld>
  <p:transition spd="slow" advClick="1">
    <p:fade/>
  </p:transition>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730d6e827ef4157"/>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REPORT EXPORT">
            <a:extLst xmlns:a="http://schemas.openxmlformats.org/drawingml/2006/main">
              <a:ext uri="{FF2B5EF4-FFF2-40B4-BE49-F238E27FC236}">
                <a16:creationId xmlns:a16="http://schemas.microsoft.com/office/drawing/2014/main" id="{D281944B-32CA-4B0A-BD6F-6F8C304F3952}"/>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REPORT EXPORT</a:t>
            </a:r>
          </a:p>
        </p:txBody>
      </p:sp>
      <p:sp>
        <p:nvSpPr>
          <p:cNvPr id="3" name="A daily PDF for security review">
            <a:extLst xmlns:a="http://schemas.openxmlformats.org/drawingml/2006/main">
              <a:ext uri="{FF2B5EF4-FFF2-40B4-BE49-F238E27FC236}">
                <a16:creationId xmlns:a16="http://schemas.microsoft.com/office/drawing/2014/main" id="{35499261-ED33-4BCB-BE68-6D9A284596F6}"/>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A daily PDF for security review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4a4549a378e4fb1"/>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BAA51533-7FF8-49CF-8B58-3F4FDE742A5A}"/>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8">
            <a:extLst xmlns:a="http://schemas.openxmlformats.org/drawingml/2006/main">
              <a:ext uri="{FF2B5EF4-FFF2-40B4-BE49-F238E27FC236}">
                <a16:creationId xmlns:a16="http://schemas.microsoft.com/office/drawing/2014/main" id="{C7B4F97F-6E1D-4EA7-BAA7-0320D2345C47}"/>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82627dec47b4ef3"/>
          <a:stretch xmlns:a="http://schemas.openxmlformats.org/drawingml/2006/main"/>
        </p:blipFill>
        <p:spPr>
          <a:xfrm xmlns:a="http://schemas.openxmlformats.org/drawingml/2006/main">
            <a:off x="533400" y="1811333"/>
            <a:ext cx="6057900" cy="4025910"/>
          </a:xfrm>
          <a:prstGeom xmlns:a="http://schemas.openxmlformats.org/drawingml/2006/main" prst="rect">
            <a:avLst/>
          </a:prstGeom>
        </p:spPr>
      </p:pic>
      <p:sp>
        <p:nvSpPr>
          <p:cNvPr id="8" name="Actual generated report, first-page excerpt">
            <a:extLst xmlns:a="http://schemas.openxmlformats.org/drawingml/2006/main">
              <a:ext uri="{FF2B5EF4-FFF2-40B4-BE49-F238E27FC236}">
                <a16:creationId xmlns:a16="http://schemas.microsoft.com/office/drawing/2014/main" id="{1B64BF63-01AC-4B05-BA01-479AF1C993CC}"/>
              </a:ext>
            </a:extLst>
          </p:cNvPr>
          <p:cNvSpPr>
            <a:spLocks xmlns:a="http://schemas.openxmlformats.org/drawingml/2006/main" noGrp="1"/>
          </p:cNvSpPr>
          <p:nvPr/>
        </p:nvSpPr>
        <p:spPr>
          <a:xfrm xmlns:a="http://schemas.openxmlformats.org/drawingml/2006/main">
            <a:off x="533400" y="5972175"/>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26B80"/>
                </a:solidFill>
                <a:latin typeface="Arial"/>
                <a:ea typeface="Arial"/>
                <a:cs typeface="Arial"/>
              </a:defRPr>
            </a:pPr>
            <a:r>
              <a:rPr sz="1275" b="0">
                <a:solidFill>
                  <a:srgbClr val="526B80"/>
                </a:solidFill>
                <a:latin typeface="Arial"/>
                <a:ea typeface="Arial"/>
                <a:cs typeface="Arial"/>
              </a:rPr>
              <a:t>Actual generated report, first-page excerpt</a:t>
            </a:r>
          </a:p>
        </p:txBody>
      </p:sp>
      <p:sp>
        <p:nvSpPr>
          <p:cNvPr id="9" name="NIST CSF structure">
            <a:extLst xmlns:a="http://schemas.openxmlformats.org/drawingml/2006/main">
              <a:ext uri="{FF2B5EF4-FFF2-40B4-BE49-F238E27FC236}">
                <a16:creationId xmlns:a16="http://schemas.microsoft.com/office/drawing/2014/main" id="{E0009634-1738-44ED-8117-27BF6EE42770}"/>
              </a:ext>
            </a:extLst>
          </p:cNvPr>
          <p:cNvSpPr>
            <a:spLocks xmlns:a="http://schemas.openxmlformats.org/drawingml/2006/main" noGrp="1"/>
          </p:cNvSpPr>
          <p:nvPr/>
        </p:nvSpPr>
        <p:spPr>
          <a:xfrm xmlns:a="http://schemas.openxmlformats.org/drawingml/2006/main">
            <a:off x="7153275" y="1914525"/>
            <a:ext cx="4505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1B32"/>
                </a:solidFill>
                <a:latin typeface="Arial"/>
                <a:ea typeface="Arial"/>
                <a:cs typeface="Arial"/>
              </a:defRPr>
            </a:pPr>
            <a:r>
              <a:rPr sz="2175" b="1">
                <a:solidFill>
                  <a:srgbClr val="071B32"/>
                </a:solidFill>
                <a:latin typeface="Arial"/>
                <a:ea typeface="Arial"/>
                <a:cs typeface="Arial"/>
              </a:rPr>
              <a:t>NIST CSF structure</a:t>
            </a:r>
          </a:p>
        </p:txBody>
      </p:sp>
      <p:sp>
        <p:nvSpPr>
          <p:cNvPr id="10" name="Govern&#10;Identify&#10;Protect&#10;Detect&#10;Respond&#10;Recove">
            <a:extLst xmlns:a="http://schemas.openxmlformats.org/drawingml/2006/main">
              <a:ext uri="{FF2B5EF4-FFF2-40B4-BE49-F238E27FC236}">
                <a16:creationId xmlns:a16="http://schemas.microsoft.com/office/drawing/2014/main" id="{5C2E148C-1BCA-47C7-96F3-48EC5A865251}"/>
              </a:ext>
            </a:extLst>
          </p:cNvPr>
          <p:cNvSpPr>
            <a:spLocks xmlns:a="http://schemas.openxmlformats.org/drawingml/2006/main" noGrp="1"/>
          </p:cNvSpPr>
          <p:nvPr/>
        </p:nvSpPr>
        <p:spPr>
          <a:xfrm xmlns:a="http://schemas.openxmlformats.org/drawingml/2006/main">
            <a:off x="7153275" y="2505075"/>
            <a:ext cx="2000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Govern</a:t>
            </a:r>
          </a:p>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Identify</a:t>
            </a:r>
          </a:p>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Protect</a:t>
            </a:r>
          </a:p>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Detect</a:t>
            </a:r>
          </a:p>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Respond</a:t>
            </a:r>
          </a:p>
          <a:p xmlns:a="http://schemas.openxmlformats.org/drawingml/2006/main">
            <a:pPr>
              <a:defRPr sz="2100" b="0">
                <a:solidFill>
                  <a:srgbClr val="12314C"/>
                </a:solidFill>
                <a:latin typeface="Arial"/>
                <a:ea typeface="Arial"/>
                <a:cs typeface="Arial"/>
              </a:defRPr>
            </a:pPr>
            <a:r>
              <a:rPr sz="2100" b="0">
                <a:solidFill>
                  <a:srgbClr val="12314C"/>
                </a:solidFill>
                <a:latin typeface="Arial"/>
                <a:ea typeface="Arial"/>
                <a:cs typeface="Arial"/>
              </a:rPr>
              <a:t>Recover</a:t>
            </a:r>
          </a:p>
        </p:txBody>
      </p:sp>
      <p:sp>
        <p:nvSpPr>
          <p:cNvPr id="11" name="Singapore reporting day&#10;&#10;Unresolved carryover">
            <a:extLst xmlns:a="http://schemas.openxmlformats.org/drawingml/2006/main">
              <a:ext uri="{FF2B5EF4-FFF2-40B4-BE49-F238E27FC236}">
                <a16:creationId xmlns:a16="http://schemas.microsoft.com/office/drawing/2014/main" id="{274E7592-1D4D-4264-8526-BC145BA6F265}"/>
              </a:ext>
            </a:extLst>
          </p:cNvPr>
          <p:cNvSpPr>
            <a:spLocks xmlns:a="http://schemas.openxmlformats.org/drawingml/2006/main" noGrp="1"/>
          </p:cNvSpPr>
          <p:nvPr/>
        </p:nvSpPr>
        <p:spPr>
          <a:xfrm xmlns:a="http://schemas.openxmlformats.org/drawingml/2006/main">
            <a:off x="9563100" y="2562225"/>
            <a:ext cx="2095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Singapore reporting day</a:t>
            </a:r>
          </a:p>
          <a:p xmlns:a="http://schemas.openxmlformats.org/drawingml/2006/main">
            <a:r>
              <a:t/>
            </a:r>
          </a:p>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Unresolved carryover</a:t>
            </a:r>
          </a:p>
          <a:p xmlns:a="http://schemas.openxmlformats.org/drawingml/2006/main">
            <a:r>
              <a:t/>
            </a:r>
          </a:p>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Authorized evidence</a:t>
            </a:r>
          </a:p>
        </p:txBody>
      </p:sp>
      <p:sp>
        <p:nvSpPr>
          <p:cNvPr id="12" name="Reporting structure, not a compliance certifi">
            <a:extLst xmlns:a="http://schemas.openxmlformats.org/drawingml/2006/main">
              <a:ext uri="{FF2B5EF4-FFF2-40B4-BE49-F238E27FC236}">
                <a16:creationId xmlns:a16="http://schemas.microsoft.com/office/drawing/2014/main" id="{2A2F6606-537F-41B2-A068-73768514FBFD}"/>
              </a:ext>
            </a:extLst>
          </p:cNvPr>
          <p:cNvSpPr>
            <a:spLocks xmlns:a="http://schemas.openxmlformats.org/drawingml/2006/main" noGrp="1"/>
          </p:cNvSpPr>
          <p:nvPr/>
        </p:nvSpPr>
        <p:spPr>
          <a:xfrm xmlns:a="http://schemas.openxmlformats.org/drawingml/2006/main">
            <a:off x="7153275" y="5467350"/>
            <a:ext cx="4505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5BCB"/>
                </a:solidFill>
                <a:latin typeface="Arial"/>
                <a:ea typeface="Arial"/>
                <a:cs typeface="Arial"/>
              </a:defRPr>
            </a:pPr>
            <a:r>
              <a:rPr sz="1875" b="1">
                <a:solidFill>
                  <a:srgbClr val="005BCB"/>
                </a:solidFill>
                <a:latin typeface="Arial"/>
                <a:ea typeface="Arial"/>
                <a:cs typeface="Arial"/>
              </a:rPr>
              <a:t>Reporting structure, not a compliance certification.</a:t>
            </a:r>
          </a:p>
        </p:txBody>
      </p:sp>
    </p:spTree>
    <p:extLst>
      <p:ext uri="{BB962C8B-B14F-4D97-AF65-F5344CB8AC3E}">
        <p14:creationId xmlns:p14="http://schemas.microsoft.com/office/powerpoint/2010/main" val="817994955"/>
      </p:ext>
    </p:extLst>
  </p:cSld>
  <p:transition spd="slow" advClick="1">
    <p:fade/>
  </p:transition>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92c137270004e4d"/>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DOCUMENTS AND MICROSOFT ECOSYSTEM">
            <a:extLst xmlns:a="http://schemas.openxmlformats.org/drawingml/2006/main">
              <a:ext uri="{FF2B5EF4-FFF2-40B4-BE49-F238E27FC236}">
                <a16:creationId xmlns:a16="http://schemas.microsoft.com/office/drawing/2014/main" id="{551B3A60-D4E0-4090-A301-100F37FD1F7E}"/>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DOCUMENTS AND MICROSOFT ECOSYSTEM</a:t>
            </a:r>
          </a:p>
        </p:txBody>
      </p:sp>
      <p:sp>
        <p:nvSpPr>
          <p:cNvPr id="3" name="File upload and familiar source identities">
            <a:extLst xmlns:a="http://schemas.openxmlformats.org/drawingml/2006/main">
              <a:ext uri="{FF2B5EF4-FFF2-40B4-BE49-F238E27FC236}">
                <a16:creationId xmlns:a16="http://schemas.microsoft.com/office/drawing/2014/main" id="{4F821105-C964-4450-8696-3192EB6D7C44}"/>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File upload and familiar source identities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1efb41cf6fa4e34"/>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C70DC9FA-E799-40AE-8459-13478C04DBD2}"/>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09">
            <a:extLst xmlns:a="http://schemas.openxmlformats.org/drawingml/2006/main">
              <a:ext uri="{FF2B5EF4-FFF2-40B4-BE49-F238E27FC236}">
                <a16:creationId xmlns:a16="http://schemas.microsoft.com/office/drawing/2014/main" id="{1300A37E-A5FE-436E-A898-85F37BC1C471}"/>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09</a:t>
            </a:r>
          </a:p>
        </p:txBody>
      </p:sp>
      <p:sp>
        <p:nvSpPr>
          <p:cNvPr id="7" name="Platform upload">
            <a:extLst xmlns:a="http://schemas.openxmlformats.org/drawingml/2006/main">
              <a:ext uri="{FF2B5EF4-FFF2-40B4-BE49-F238E27FC236}">
                <a16:creationId xmlns:a16="http://schemas.microsoft.com/office/drawing/2014/main" id="{8C4B5211-AE71-4AD2-8311-DDF564B7C51B}"/>
              </a:ext>
            </a:extLst>
          </p:cNvPr>
          <p:cNvSpPr>
            <a:spLocks xmlns:a="http://schemas.openxmlformats.org/drawingml/2006/main" noGrp="1"/>
          </p:cNvSpPr>
          <p:nvPr/>
        </p:nvSpPr>
        <p:spPr>
          <a:xfrm xmlns:a="http://schemas.openxmlformats.org/drawingml/2006/main">
            <a:off x="533400" y="1924050"/>
            <a:ext cx="5153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Platform upload</a:t>
            </a:r>
          </a:p>
        </p:txBody>
      </p:sp>
      <p:sp>
        <p:nvSpPr>
          <p:cNvPr id="8" name="Create a searchable file record with classifi">
            <a:extLst xmlns:a="http://schemas.openxmlformats.org/drawingml/2006/main">
              <a:ext uri="{FF2B5EF4-FFF2-40B4-BE49-F238E27FC236}">
                <a16:creationId xmlns:a16="http://schemas.microsoft.com/office/drawing/2014/main" id="{173C3D01-E241-4866-834E-2330DB9AD807}"/>
              </a:ext>
            </a:extLst>
          </p:cNvPr>
          <p:cNvSpPr>
            <a:spLocks xmlns:a="http://schemas.openxmlformats.org/drawingml/2006/main" noGrp="1"/>
          </p:cNvSpPr>
          <p:nvPr/>
        </p:nvSpPr>
        <p:spPr>
          <a:xfrm xmlns:a="http://schemas.openxmlformats.org/drawingml/2006/main">
            <a:off x="533400" y="2381250"/>
            <a:ext cx="51530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Create a searchable file record with classification and controlled downloads.</a:t>
            </a:r>
          </a:p>
        </p:txBody>
      </p:sp>
      <p:sp>
        <p:nvSpPr>
          <p:cNvPr id="9" name="OneDrive destination">
            <a:extLst xmlns:a="http://schemas.openxmlformats.org/drawingml/2006/main">
              <a:ext uri="{FF2B5EF4-FFF2-40B4-BE49-F238E27FC236}">
                <a16:creationId xmlns:a16="http://schemas.microsoft.com/office/drawing/2014/main" id="{50DD8EF2-6AA5-4CE7-A2E4-CF3D47B6E4EE}"/>
              </a:ext>
            </a:extLst>
          </p:cNvPr>
          <p:cNvSpPr>
            <a:spLocks xmlns:a="http://schemas.openxmlformats.org/drawingml/2006/main" noGrp="1"/>
          </p:cNvSpPr>
          <p:nvPr/>
        </p:nvSpPr>
        <p:spPr>
          <a:xfrm xmlns:a="http://schemas.openxmlformats.org/drawingml/2006/main">
            <a:off x="6486525" y="1924050"/>
            <a:ext cx="5172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OneDrive destination</a:t>
            </a:r>
          </a:p>
        </p:txBody>
      </p:sp>
      <p:sp>
        <p:nvSpPr>
          <p:cNvPr id="10" name="Choose a familiar destination. Files currentl">
            <a:extLst xmlns:a="http://schemas.openxmlformats.org/drawingml/2006/main">
              <a:ext uri="{FF2B5EF4-FFF2-40B4-BE49-F238E27FC236}">
                <a16:creationId xmlns:a16="http://schemas.microsoft.com/office/drawing/2014/main" id="{E90A54CC-ABB0-4CC8-9FAF-1B157A3BE72D}"/>
              </a:ext>
            </a:extLst>
          </p:cNvPr>
          <p:cNvSpPr>
            <a:spLocks xmlns:a="http://schemas.openxmlformats.org/drawingml/2006/main" noGrp="1"/>
          </p:cNvSpPr>
          <p:nvPr/>
        </p:nvSpPr>
        <p:spPr>
          <a:xfrm xmlns:a="http://schemas.openxmlformats.org/drawingml/2006/main">
            <a:off x="6486525" y="2381250"/>
            <a:ext cx="5172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Choose a familiar destination. Files currently remain in IntelliPath storage.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b4d78937aef4c2c"/>
          <a:stretch xmlns:a="http://schemas.openxmlformats.org/drawingml/2006/main"/>
        </p:blipFill>
        <p:spPr>
          <a:xfrm xmlns:a="http://schemas.openxmlformats.org/drawingml/2006/main">
            <a:off x="933450" y="3829050"/>
            <a:ext cx="723900" cy="723900"/>
          </a:xfrm>
          <a:prstGeom xmlns:a="http://schemas.openxmlformats.org/drawingml/2006/main" prst="rect">
            <a:avLst/>
          </a:prstGeom>
        </p:spPr>
      </p:pic>
      <p:sp>
        <p:nvSpPr>
          <p:cNvPr id="12" name="Teams">
            <a:extLst xmlns:a="http://schemas.openxmlformats.org/drawingml/2006/main">
              <a:ext uri="{FF2B5EF4-FFF2-40B4-BE49-F238E27FC236}">
                <a16:creationId xmlns:a16="http://schemas.microsoft.com/office/drawing/2014/main" id="{9BF0A74C-F222-4DA4-81E8-DEB8D0543215}"/>
              </a:ext>
            </a:extLst>
          </p:cNvPr>
          <p:cNvSpPr>
            <a:spLocks xmlns:a="http://schemas.openxmlformats.org/drawingml/2006/main" noGrp="1"/>
          </p:cNvSpPr>
          <p:nvPr/>
        </p:nvSpPr>
        <p:spPr>
          <a:xfrm xmlns:a="http://schemas.openxmlformats.org/drawingml/2006/main">
            <a:off x="53340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Teams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7dbac4fa5c14dde"/>
          <a:stretch xmlns:a="http://schemas.openxmlformats.org/drawingml/2006/main"/>
        </p:blipFill>
        <p:spPr>
          <a:xfrm xmlns:a="http://schemas.openxmlformats.org/drawingml/2006/main">
            <a:off x="2819400" y="3829050"/>
            <a:ext cx="723900" cy="723900"/>
          </a:xfrm>
          <a:prstGeom xmlns:a="http://schemas.openxmlformats.org/drawingml/2006/main" prst="rect">
            <a:avLst/>
          </a:prstGeom>
        </p:spPr>
      </p:pic>
      <p:sp>
        <p:nvSpPr>
          <p:cNvPr id="14" name="OneDrive">
            <a:extLst xmlns:a="http://schemas.openxmlformats.org/drawingml/2006/main">
              <a:ext uri="{FF2B5EF4-FFF2-40B4-BE49-F238E27FC236}">
                <a16:creationId xmlns:a16="http://schemas.microsoft.com/office/drawing/2014/main" id="{A4901DF5-1E1D-440C-88A0-1CA70594C652}"/>
              </a:ext>
            </a:extLst>
          </p:cNvPr>
          <p:cNvSpPr>
            <a:spLocks xmlns:a="http://schemas.openxmlformats.org/drawingml/2006/main" noGrp="1"/>
          </p:cNvSpPr>
          <p:nvPr/>
        </p:nvSpPr>
        <p:spPr>
          <a:xfrm xmlns:a="http://schemas.openxmlformats.org/drawingml/2006/main">
            <a:off x="241935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OneDrive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d4b54c9d4734095"/>
          <a:stretch xmlns:a="http://schemas.openxmlformats.org/drawingml/2006/main"/>
        </p:blipFill>
        <p:spPr>
          <a:xfrm xmlns:a="http://schemas.openxmlformats.org/drawingml/2006/main">
            <a:off x="4705350" y="3829050"/>
            <a:ext cx="723900" cy="723900"/>
          </a:xfrm>
          <a:prstGeom xmlns:a="http://schemas.openxmlformats.org/drawingml/2006/main" prst="rect">
            <a:avLst/>
          </a:prstGeom>
        </p:spPr>
      </p:pic>
      <p:sp>
        <p:nvSpPr>
          <p:cNvPr id="16" name="SharePoint">
            <a:extLst xmlns:a="http://schemas.openxmlformats.org/drawingml/2006/main">
              <a:ext uri="{FF2B5EF4-FFF2-40B4-BE49-F238E27FC236}">
                <a16:creationId xmlns:a16="http://schemas.microsoft.com/office/drawing/2014/main" id="{BBCAAD0E-8025-4478-9394-206813716C89}"/>
              </a:ext>
            </a:extLst>
          </p:cNvPr>
          <p:cNvSpPr>
            <a:spLocks xmlns:a="http://schemas.openxmlformats.org/drawingml/2006/main" noGrp="1"/>
          </p:cNvSpPr>
          <p:nvPr/>
        </p:nvSpPr>
        <p:spPr>
          <a:xfrm xmlns:a="http://schemas.openxmlformats.org/drawingml/2006/main">
            <a:off x="430530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SharePoint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eb144b0fdd84e5b"/>
          <a:stretch xmlns:a="http://schemas.openxmlformats.org/drawingml/2006/main"/>
        </p:blipFill>
        <p:spPr>
          <a:xfrm xmlns:a="http://schemas.openxmlformats.org/drawingml/2006/main">
            <a:off x="6591300" y="3829050"/>
            <a:ext cx="723900" cy="723900"/>
          </a:xfrm>
          <a:prstGeom xmlns:a="http://schemas.openxmlformats.org/drawingml/2006/main" prst="rect">
            <a:avLst/>
          </a:prstGeom>
        </p:spPr>
      </p:pic>
      <p:sp>
        <p:nvSpPr>
          <p:cNvPr id="18" name="Exchange">
            <a:extLst xmlns:a="http://schemas.openxmlformats.org/drawingml/2006/main">
              <a:ext uri="{FF2B5EF4-FFF2-40B4-BE49-F238E27FC236}">
                <a16:creationId xmlns:a16="http://schemas.microsoft.com/office/drawing/2014/main" id="{ABB1B7F4-D019-4152-B0C8-C4962A5BC5B1}"/>
              </a:ext>
            </a:extLst>
          </p:cNvPr>
          <p:cNvSpPr>
            <a:spLocks xmlns:a="http://schemas.openxmlformats.org/drawingml/2006/main" noGrp="1"/>
          </p:cNvSpPr>
          <p:nvPr/>
        </p:nvSpPr>
        <p:spPr>
          <a:xfrm xmlns:a="http://schemas.openxmlformats.org/drawingml/2006/main">
            <a:off x="619125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Exchange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6d170bad2de493c"/>
          <a:stretch xmlns:a="http://schemas.openxmlformats.org/drawingml/2006/main"/>
        </p:blipFill>
        <p:spPr>
          <a:xfrm xmlns:a="http://schemas.openxmlformats.org/drawingml/2006/main">
            <a:off x="8477250" y="3829050"/>
            <a:ext cx="723900" cy="723900"/>
          </a:xfrm>
          <a:prstGeom xmlns:a="http://schemas.openxmlformats.org/drawingml/2006/main" prst="rect">
            <a:avLst/>
          </a:prstGeom>
        </p:spPr>
      </p:pic>
      <p:sp>
        <p:nvSpPr>
          <p:cNvPr id="20" name="Defender&#10;for Cloud">
            <a:extLst xmlns:a="http://schemas.openxmlformats.org/drawingml/2006/main">
              <a:ext uri="{FF2B5EF4-FFF2-40B4-BE49-F238E27FC236}">
                <a16:creationId xmlns:a16="http://schemas.microsoft.com/office/drawing/2014/main" id="{3FC26F17-DDB5-42F4-8CC9-18601E4753DA}"/>
              </a:ext>
            </a:extLst>
          </p:cNvPr>
          <p:cNvSpPr>
            <a:spLocks xmlns:a="http://schemas.openxmlformats.org/drawingml/2006/main" noGrp="1"/>
          </p:cNvSpPr>
          <p:nvPr/>
        </p:nvSpPr>
        <p:spPr>
          <a:xfrm xmlns:a="http://schemas.openxmlformats.org/drawingml/2006/main">
            <a:off x="807720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Defender</a:t>
            </a:r>
          </a:p>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for Cloud</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f4cdfe2f52242d8"/>
          <a:stretch xmlns:a="http://schemas.openxmlformats.org/drawingml/2006/main"/>
        </p:blipFill>
        <p:spPr>
          <a:xfrm xmlns:a="http://schemas.openxmlformats.org/drawingml/2006/main">
            <a:off x="10363200" y="3829050"/>
            <a:ext cx="723900" cy="723900"/>
          </a:xfrm>
          <a:prstGeom xmlns:a="http://schemas.openxmlformats.org/drawingml/2006/main" prst="rect">
            <a:avLst/>
          </a:prstGeom>
        </p:spPr>
      </p:pic>
      <p:sp>
        <p:nvSpPr>
          <p:cNvPr id="22" name="Sentinel">
            <a:extLst xmlns:a="http://schemas.openxmlformats.org/drawingml/2006/main">
              <a:ext uri="{FF2B5EF4-FFF2-40B4-BE49-F238E27FC236}">
                <a16:creationId xmlns:a16="http://schemas.microsoft.com/office/drawing/2014/main" id="{D8C4152B-C978-4F5A-B1B8-5B708BE9BE36}"/>
              </a:ext>
            </a:extLst>
          </p:cNvPr>
          <p:cNvSpPr>
            <a:spLocks xmlns:a="http://schemas.openxmlformats.org/drawingml/2006/main" noGrp="1"/>
          </p:cNvSpPr>
          <p:nvPr/>
        </p:nvSpPr>
        <p:spPr>
          <a:xfrm xmlns:a="http://schemas.openxmlformats.org/drawingml/2006/main">
            <a:off x="9963150" y="4772025"/>
            <a:ext cx="1781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71B32"/>
                </a:solidFill>
                <a:latin typeface="Arial"/>
                <a:ea typeface="Arial"/>
                <a:cs typeface="Arial"/>
              </a:defRPr>
            </a:pPr>
            <a:r>
              <a:rPr sz="1725" b="1">
                <a:solidFill>
                  <a:srgbClr val="071B32"/>
                </a:solidFill>
                <a:latin typeface="Arial"/>
                <a:ea typeface="Arial"/>
                <a:cs typeface="Arial"/>
              </a:rPr>
              <a:t>Sentinel</a:t>
            </a:r>
          </a:p>
        </p:txBody>
      </p:sp>
      <p:sp>
        <p:nvSpPr>
          <p:cNvPr id="23" name="Source logos are illustrative. Microsoft serv">
            <a:extLst xmlns:a="http://schemas.openxmlformats.org/drawingml/2006/main">
              <a:ext uri="{FF2B5EF4-FFF2-40B4-BE49-F238E27FC236}">
                <a16:creationId xmlns:a16="http://schemas.microsoft.com/office/drawing/2014/main" id="{0C7778C7-D7EF-4FB2-A09E-5641F949EED2}"/>
              </a:ext>
            </a:extLst>
          </p:cNvPr>
          <p:cNvSpPr>
            <a:spLocks xmlns:a="http://schemas.openxmlformats.org/drawingml/2006/main" noGrp="1"/>
          </p:cNvSpPr>
          <p:nvPr/>
        </p:nvSpPr>
        <p:spPr>
          <a:xfrm xmlns:a="http://schemas.openxmlformats.org/drawingml/2006/main">
            <a:off x="533400" y="57340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5BCB"/>
                </a:solidFill>
                <a:latin typeface="Arial"/>
                <a:ea typeface="Arial"/>
                <a:cs typeface="Arial"/>
              </a:defRPr>
            </a:pPr>
            <a:r>
              <a:rPr sz="1875" b="1">
                <a:solidFill>
                  <a:srgbClr val="005BCB"/>
                </a:solidFill>
                <a:latin typeface="Arial"/>
                <a:ea typeface="Arial"/>
                <a:cs typeface="Arial"/>
              </a:rPr>
              <a:t>Source logos are illustrative. Microsoft services are not connected.</a:t>
            </a:r>
          </a:p>
        </p:txBody>
      </p:sp>
    </p:spTree>
    <p:extLst>
      <p:ext uri="{BB962C8B-B14F-4D97-AF65-F5344CB8AC3E}">
        <p14:creationId xmlns:p14="http://schemas.microsoft.com/office/powerpoint/2010/main" val="703364820"/>
      </p:ext>
    </p:extLst>
  </p:cSld>
  <p:transition spd="slow" advClick="1">
    <p:fade/>
  </p:transition>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d8258e005cc4863"/>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INDOOR AND OUTDOOR LOCATION">
            <a:extLst xmlns:a="http://schemas.openxmlformats.org/drawingml/2006/main">
              <a:ext uri="{FF2B5EF4-FFF2-40B4-BE49-F238E27FC236}">
                <a16:creationId xmlns:a16="http://schemas.microsoft.com/office/drawing/2014/main" id="{652C8093-B957-4993-8619-E3D325FE67D9}"/>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INDOOR AND OUTDOOR LOCATION</a:t>
            </a:r>
          </a:p>
        </p:txBody>
      </p:sp>
      <p:sp>
        <p:nvSpPr>
          <p:cNvPr id="3" name="People in context">
            <a:extLst xmlns:a="http://schemas.openxmlformats.org/drawingml/2006/main">
              <a:ext uri="{FF2B5EF4-FFF2-40B4-BE49-F238E27FC236}">
                <a16:creationId xmlns:a16="http://schemas.microsoft.com/office/drawing/2014/main" id="{861BF669-A8B5-4B7B-9398-EC0CBC36D46C}"/>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People in context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9040f32d1d04422"/>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8AB6A58E-9422-4574-8022-2168D79BC735}"/>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10">
            <a:extLst xmlns:a="http://schemas.openxmlformats.org/drawingml/2006/main">
              <a:ext uri="{FF2B5EF4-FFF2-40B4-BE49-F238E27FC236}">
                <a16:creationId xmlns:a16="http://schemas.microsoft.com/office/drawing/2014/main" id="{88E83279-44CD-4AA4-937B-3C3696313D7D}"/>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10</a:t>
            </a:r>
          </a:p>
        </p:txBody>
      </p:sp>
      <p:sp>
        <p:nvSpPr>
          <p:cNvPr id="7" name="Building and floor">
            <a:extLst xmlns:a="http://schemas.openxmlformats.org/drawingml/2006/main">
              <a:ext uri="{FF2B5EF4-FFF2-40B4-BE49-F238E27FC236}">
                <a16:creationId xmlns:a16="http://schemas.microsoft.com/office/drawing/2014/main" id="{F744957A-D5D8-4FCC-AA66-6B6A5B651395}"/>
              </a:ext>
            </a:extLst>
          </p:cNvPr>
          <p:cNvSpPr>
            <a:spLocks xmlns:a="http://schemas.openxmlformats.org/drawingml/2006/main" noGrp="1"/>
          </p:cNvSpPr>
          <p:nvPr/>
        </p:nvSpPr>
        <p:spPr>
          <a:xfrm xmlns:a="http://schemas.openxmlformats.org/drawingml/2006/main">
            <a:off x="533400" y="1752600"/>
            <a:ext cx="5295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Building and floor</a:t>
            </a:r>
          </a:p>
        </p:txBody>
      </p:sp>
      <p:sp>
        <p:nvSpPr>
          <p:cNvPr id="8" name="Yard and work zone">
            <a:extLst xmlns:a="http://schemas.openxmlformats.org/drawingml/2006/main">
              <a:ext uri="{FF2B5EF4-FFF2-40B4-BE49-F238E27FC236}">
                <a16:creationId xmlns:a16="http://schemas.microsoft.com/office/drawing/2014/main" id="{B6DEC777-5ACD-4B21-BC4A-AF55B3351E1E}"/>
              </a:ext>
            </a:extLst>
          </p:cNvPr>
          <p:cNvSpPr>
            <a:spLocks xmlns:a="http://schemas.openxmlformats.org/drawingml/2006/main" noGrp="1"/>
          </p:cNvSpPr>
          <p:nvPr/>
        </p:nvSpPr>
        <p:spPr>
          <a:xfrm xmlns:a="http://schemas.openxmlformats.org/drawingml/2006/main">
            <a:off x="6362700" y="1752600"/>
            <a:ext cx="5295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71B32"/>
                </a:solidFill>
                <a:latin typeface="Arial"/>
                <a:ea typeface="Arial"/>
                <a:cs typeface="Arial"/>
              </a:defRPr>
            </a:pPr>
            <a:r>
              <a:rPr sz="2100" b="1">
                <a:solidFill>
                  <a:srgbClr val="071B32"/>
                </a:solidFill>
                <a:latin typeface="Arial"/>
                <a:ea typeface="Arial"/>
                <a:cs typeface="Arial"/>
              </a:rPr>
              <a:t>Yard and work zone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53e3f586b4b451b"/>
          <a:stretch xmlns:a="http://schemas.openxmlformats.org/drawingml/2006/main"/>
        </p:blipFill>
        <p:spPr>
          <a:xfrm xmlns:a="http://schemas.openxmlformats.org/drawingml/2006/main">
            <a:off x="1297608" y="2247900"/>
            <a:ext cx="3767484" cy="338137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18b917abab046d2"/>
          <a:stretch xmlns:a="http://schemas.openxmlformats.org/drawingml/2006/main"/>
        </p:blipFill>
        <p:spPr>
          <a:xfrm xmlns:a="http://schemas.openxmlformats.org/drawingml/2006/main">
            <a:off x="7350984" y="2247900"/>
            <a:ext cx="3319331" cy="3381375"/>
          </a:xfrm>
          <a:prstGeom xmlns:a="http://schemas.openxmlformats.org/drawingml/2006/main" prst="rect">
            <a:avLst/>
          </a:prstGeom>
        </p:spPr>
      </p:pic>
      <p:sp>
        <p:nvSpPr>
          <p:cNvPr id="11" name="Site, building, floor and room">
            <a:extLst xmlns:a="http://schemas.openxmlformats.org/drawingml/2006/main">
              <a:ext uri="{FF2B5EF4-FFF2-40B4-BE49-F238E27FC236}">
                <a16:creationId xmlns:a16="http://schemas.microsoft.com/office/drawing/2014/main" id="{D44E9C9F-38A6-4563-AFB6-7C2998B318C3}"/>
              </a:ext>
            </a:extLst>
          </p:cNvPr>
          <p:cNvSpPr>
            <a:spLocks xmlns:a="http://schemas.openxmlformats.org/drawingml/2006/main" noGrp="1"/>
          </p:cNvSpPr>
          <p:nvPr/>
        </p:nvSpPr>
        <p:spPr>
          <a:xfrm xmlns:a="http://schemas.openxmlformats.org/drawingml/2006/main">
            <a:off x="533400" y="579120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Site, building, floor and room</a:t>
            </a:r>
          </a:p>
        </p:txBody>
      </p:sp>
      <p:sp>
        <p:nvSpPr>
          <p:cNvPr id="12" name="Illustrative map position, not live GPS">
            <a:extLst xmlns:a="http://schemas.openxmlformats.org/drawingml/2006/main">
              <a:ext uri="{FF2B5EF4-FFF2-40B4-BE49-F238E27FC236}">
                <a16:creationId xmlns:a16="http://schemas.microsoft.com/office/drawing/2014/main" id="{A7ED2F6B-7384-4D47-893C-7AA8A40B30F3}"/>
              </a:ext>
            </a:extLst>
          </p:cNvPr>
          <p:cNvSpPr>
            <a:spLocks xmlns:a="http://schemas.openxmlformats.org/drawingml/2006/main" noGrp="1"/>
          </p:cNvSpPr>
          <p:nvPr/>
        </p:nvSpPr>
        <p:spPr>
          <a:xfrm xmlns:a="http://schemas.openxmlformats.org/drawingml/2006/main">
            <a:off x="6362700" y="579120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B80"/>
                </a:solidFill>
                <a:latin typeface="Arial"/>
                <a:ea typeface="Arial"/>
                <a:cs typeface="Arial"/>
              </a:defRPr>
            </a:pPr>
            <a:r>
              <a:rPr sz="1800" b="0">
                <a:solidFill>
                  <a:srgbClr val="526B80"/>
                </a:solidFill>
                <a:latin typeface="Arial"/>
                <a:ea typeface="Arial"/>
                <a:cs typeface="Arial"/>
              </a:rPr>
              <a:t>Illustrative map position, not live GPS</a:t>
            </a:r>
          </a:p>
        </p:txBody>
      </p:sp>
    </p:spTree>
    <p:extLst>
      <p:ext uri="{BB962C8B-B14F-4D97-AF65-F5344CB8AC3E}">
        <p14:creationId xmlns:p14="http://schemas.microsoft.com/office/powerpoint/2010/main" val="944995394"/>
      </p:ext>
    </p:extLst>
  </p:cSld>
  <p:transition spd="slow"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273f9195038451c"/>
          <a:srcRect xmlns:a="http://schemas.openxmlformats.org/drawingml/2006/main" l="1279" t="0" r="1279" b="0"/>
          <a:stretch xmlns:a="http://schemas.openxmlformats.org/drawingml/2006/main">
            <a:fillRect l="0" t="0" r="0" b="0"/>
          </a:stretch>
        </p:blipFill>
        <p:spPr>
          <a:xfrm xmlns:a="http://schemas.openxmlformats.org/drawingml/2006/main">
            <a:off x="7458075" y="2667000"/>
            <a:ext cx="4733925" cy="4048125"/>
          </a:xfrm>
          <a:prstGeom xmlns:a="http://schemas.openxmlformats.org/drawingml/2006/main" prst="rect">
            <a:avLst/>
          </a:prstGeom>
        </p:spPr>
      </p:pic>
      <p:sp>
        <p:nvSpPr>
          <p:cNvPr id="2" name="ROLE PERMISSIONS">
            <a:extLst xmlns:a="http://schemas.openxmlformats.org/drawingml/2006/main">
              <a:ext uri="{FF2B5EF4-FFF2-40B4-BE49-F238E27FC236}">
                <a16:creationId xmlns:a16="http://schemas.microsoft.com/office/drawing/2014/main" id="{4F238536-720B-40CA-B20E-9BC84EC68E6E}"/>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05BCB"/>
                </a:solidFill>
                <a:latin typeface="Arial"/>
                <a:ea typeface="Arial"/>
                <a:cs typeface="Arial"/>
              </a:defRPr>
            </a:pPr>
            <a:r>
              <a:rPr sz="1275" b="1">
                <a:solidFill>
                  <a:srgbClr val="005BCB"/>
                </a:solidFill>
                <a:latin typeface="Arial"/>
                <a:ea typeface="Arial"/>
                <a:cs typeface="Arial"/>
              </a:rPr>
              <a:t>ROLE PERMISSIONS</a:t>
            </a:r>
          </a:p>
        </p:txBody>
      </p:sp>
      <p:sp>
        <p:nvSpPr>
          <p:cNvPr id="3" name="Access follows the user through every step">
            <a:extLst xmlns:a="http://schemas.openxmlformats.org/drawingml/2006/main">
              <a:ext uri="{FF2B5EF4-FFF2-40B4-BE49-F238E27FC236}">
                <a16:creationId xmlns:a16="http://schemas.microsoft.com/office/drawing/2014/main" id="{238C739A-30FA-41A8-AC10-EA6A9484505E}"/>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071B32"/>
                </a:solidFill>
                <a:latin typeface="Arial"/>
                <a:ea typeface="Arial"/>
                <a:cs typeface="Arial"/>
              </a:defRPr>
            </a:pPr>
            <a:r>
              <a:rPr sz="3450" b="1">
                <a:solidFill>
                  <a:srgbClr val="071B32"/>
                </a:solidFill>
                <a:latin typeface="Arial"/>
                <a:ea typeface="Arial"/>
                <a:cs typeface="Arial"/>
              </a:rPr>
              <a:t>Access follows the user through every step</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9b6009ab5834b84"/>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5" name="IntelliPath  /  Connected resource workspace">
            <a:extLst xmlns:a="http://schemas.openxmlformats.org/drawingml/2006/main">
              <a:ext uri="{FF2B5EF4-FFF2-40B4-BE49-F238E27FC236}">
                <a16:creationId xmlns:a16="http://schemas.microsoft.com/office/drawing/2014/main" id="{D1CFE8D8-9192-4090-93EE-9DCC0669FA5E}"/>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98295"/>
                </a:solidFill>
                <a:latin typeface="Arial"/>
                <a:ea typeface="Arial"/>
                <a:cs typeface="Arial"/>
              </a:defRPr>
            </a:pPr>
            <a:r>
              <a:rPr sz="1050" b="0">
                <a:solidFill>
                  <a:srgbClr val="698295"/>
                </a:solidFill>
                <a:latin typeface="Arial"/>
                <a:ea typeface="Arial"/>
                <a:cs typeface="Arial"/>
              </a:rPr>
              <a:t>IntelliPath  /  Connected resource workspace</a:t>
            </a:r>
          </a:p>
        </p:txBody>
      </p:sp>
      <p:sp>
        <p:nvSpPr>
          <p:cNvPr id="6" name="11">
            <a:extLst xmlns:a="http://schemas.openxmlformats.org/drawingml/2006/main">
              <a:ext uri="{FF2B5EF4-FFF2-40B4-BE49-F238E27FC236}">
                <a16:creationId xmlns:a16="http://schemas.microsoft.com/office/drawing/2014/main" id="{5AADC304-24AA-4EFD-8B8B-0AF35D3047F9}"/>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98295"/>
                </a:solidFill>
                <a:latin typeface="Arial"/>
                <a:ea typeface="Arial"/>
                <a:cs typeface="Arial"/>
              </a:defRPr>
            </a:pPr>
            <a:r>
              <a:rPr sz="1275" b="0">
                <a:solidFill>
                  <a:srgbClr val="698295"/>
                </a:solidFill>
                <a:latin typeface="Arial"/>
                <a:ea typeface="Arial"/>
                <a:cs typeface="Arial"/>
              </a:rPr>
              <a:t>11</a:t>
            </a:r>
          </a:p>
        </p:txBody>
      </p:sp>
      <p:sp>
        <p:nvSpPr>
          <p:cNvPr id="7" name="Search, agents, files and reports share the s">
            <a:extLst xmlns:a="http://schemas.openxmlformats.org/drawingml/2006/main">
              <a:ext uri="{FF2B5EF4-FFF2-40B4-BE49-F238E27FC236}">
                <a16:creationId xmlns:a16="http://schemas.microsoft.com/office/drawing/2014/main" id="{2AA34317-2CBB-4C00-A5A8-B01DCE3F2B55}"/>
              </a:ext>
            </a:extLst>
          </p:cNvPr>
          <p:cNvSpPr>
            <a:spLocks xmlns:a="http://schemas.openxmlformats.org/drawingml/2006/main" noGrp="1"/>
          </p:cNvSpPr>
          <p:nvPr/>
        </p:nvSpPr>
        <p:spPr>
          <a:xfrm xmlns:a="http://schemas.openxmlformats.org/drawingml/2006/main">
            <a:off x="533400" y="171450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26B80"/>
                </a:solidFill>
                <a:latin typeface="Arial"/>
                <a:ea typeface="Arial"/>
                <a:cs typeface="Arial"/>
              </a:defRPr>
            </a:pPr>
            <a:r>
              <a:rPr sz="2025" b="0">
                <a:solidFill>
                  <a:srgbClr val="526B80"/>
                </a:solidFill>
                <a:latin typeface="Arial"/>
                <a:ea typeface="Arial"/>
                <a:cs typeface="Arial"/>
              </a:rPr>
              <a:t>Search, agents, files and reports share the same authorized record scope.</a:t>
            </a:r>
          </a:p>
        </p:txBody>
      </p:sp>
      <p:graphicFrame>
        <p:nvGraphicFramePr>
          <p:cNvPr id="17" name=""/>
          <p:cNvGraphicFramePr/>
          <p:nvPr/>
        </p:nvGraphicFramePr>
        <p:xfrm>
          <a:off xmlns:a="http://schemas.openxmlformats.org/drawingml/2006/main" x="533400" y="2381250"/>
          <a:ext xmlns:a="http://schemas.openxmlformats.org/drawingml/2006/main" cx="11125200" cy="3486150"/>
        </p:xfrm>
        <a:graphic xmlns:a="http://schemas.openxmlformats.org/drawingml/2006/main">
          <a:graphicData uri="http://schemas.openxmlformats.org/drawingml/2006/table">
            <a:tbl>
              <a:tblPr/>
              <a:tblGrid>
                <a:gridCol w="2095500"/>
                <a:gridCol w="2714625"/>
                <a:gridCol w="2152650"/>
                <a:gridCol w="1847850"/>
                <a:gridCol w="2314575"/>
              </a:tblGrid>
              <a:tr h="581025">
                <a:tc>
                  <a:txBody>
                    <a:bodyPr/>
                    <a:lstStyle/>
                    <a:p>
                      <a:r>
                        <a:rPr sz="1725" b="1">
                          <a:solidFill>
                            <a:srgbClr val="FFFFFF"/>
                          </a:solidFill>
                          <a:latin typeface="Arial"/>
                          <a:ea typeface="Arial"/>
                          <a:cs typeface="Arial"/>
                        </a:rPr>
                        <a:t>Role</a:t>
                      </a:r>
                    </a:p>
                  </a:txBody>
                  <a:tcPr marL="91440" marR="91440" marT="45720" marB="45720">
                    <a:solidFill>
                      <a:srgbClr val="071B32"/>
                    </a:solidFill>
                  </a:tcPr>
                </a:tc>
                <a:tc>
                  <a:txBody>
                    <a:bodyPr/>
                    <a:lstStyle/>
                    <a:p>
                      <a:r>
                        <a:rPr sz="1725" b="1">
                          <a:solidFill>
                            <a:srgbClr val="FFFFFF"/>
                          </a:solidFill>
                          <a:latin typeface="Arial"/>
                          <a:ea typeface="Arial"/>
                          <a:cs typeface="Arial"/>
                        </a:rPr>
                        <a:t>Find resources</a:t>
                      </a:r>
                    </a:p>
                  </a:txBody>
                  <a:tcPr marL="91440" marR="91440" marT="45720" marB="45720">
                    <a:solidFill>
                      <a:srgbClr val="071B32"/>
                    </a:solidFill>
                  </a:tcPr>
                </a:tc>
                <a:tc>
                  <a:txBody>
                    <a:bodyPr/>
                    <a:lstStyle/>
                    <a:p>
                      <a:r>
                        <a:rPr sz="1725" b="1">
                          <a:solidFill>
                            <a:srgbClr val="FFFFFF"/>
                          </a:solidFill>
                          <a:latin typeface="Arial"/>
                          <a:ea typeface="Arial"/>
                          <a:cs typeface="Arial"/>
                        </a:rPr>
                        <a:t>Upload files</a:t>
                      </a:r>
                    </a:p>
                  </a:txBody>
                  <a:tcPr marL="91440" marR="91440" marT="45720" marB="45720">
                    <a:solidFill>
                      <a:srgbClr val="071B32"/>
                    </a:solidFill>
                  </a:tcPr>
                </a:tc>
                <a:tc>
                  <a:txBody>
                    <a:bodyPr/>
                    <a:lstStyle/>
                    <a:p>
                      <a:r>
                        <a:rPr sz="1725" b="1">
                          <a:solidFill>
                            <a:srgbClr val="FFFFFF"/>
                          </a:solidFill>
                          <a:latin typeface="Arial"/>
                          <a:ea typeface="Arial"/>
                          <a:cs typeface="Arial"/>
                        </a:rPr>
                        <a:t>Use AI</a:t>
                      </a:r>
                    </a:p>
                  </a:txBody>
                  <a:tcPr marL="91440" marR="91440" marT="45720" marB="45720">
                    <a:solidFill>
                      <a:srgbClr val="071B32"/>
                    </a:solidFill>
                  </a:tcPr>
                </a:tc>
                <a:tc>
                  <a:txBody>
                    <a:bodyPr/>
                    <a:lstStyle/>
                    <a:p>
                      <a:r>
                        <a:rPr sz="1725" b="1">
                          <a:solidFill>
                            <a:srgbClr val="FFFFFF"/>
                          </a:solidFill>
                          <a:latin typeface="Arial"/>
                          <a:ea typeface="Arial"/>
                          <a:cs typeface="Arial"/>
                        </a:rPr>
                        <a:t>Manage users</a:t>
                      </a:r>
                    </a:p>
                  </a:txBody>
                  <a:tcPr marL="91440" marR="91440" marT="45720" marB="45720">
                    <a:solidFill>
                      <a:srgbClr val="071B32"/>
                    </a:solidFill>
                  </a:tcPr>
                </a:tc>
              </a:tr>
              <a:tr h="581025">
                <a:tc>
                  <a:txBody>
                    <a:bodyPr/>
                    <a:lstStyle/>
                    <a:p>
                      <a:r>
                        <a:rPr sz="1725" b="1">
                          <a:solidFill>
                            <a:srgbClr val="12314C"/>
                          </a:solidFill>
                          <a:latin typeface="Arial"/>
                          <a:ea typeface="Arial"/>
                          <a:cs typeface="Arial"/>
                        </a:rPr>
                        <a:t>Admin</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r>
              <a:tr h="581025">
                <a:tc>
                  <a:txBody>
                    <a:bodyPr/>
                    <a:lstStyle/>
                    <a:p>
                      <a:r>
                        <a:rPr sz="1725" b="1">
                          <a:solidFill>
                            <a:srgbClr val="12314C"/>
                          </a:solidFill>
                          <a:latin typeface="Arial"/>
                          <a:ea typeface="Arial"/>
                          <a:cs typeface="Arial"/>
                        </a:rPr>
                        <a:t>Manager</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No</a:t>
                      </a:r>
                    </a:p>
                  </a:txBody>
                  <a:tcPr marL="91440" marR="91440" marT="45720" marB="45720">
                    <a:solidFill>
                      <a:srgbClr val="F1F6FB"/>
                    </a:solidFill>
                  </a:tcPr>
                </a:tc>
              </a:tr>
              <a:tr h="581025">
                <a:tc>
                  <a:txBody>
                    <a:bodyPr/>
                    <a:lstStyle/>
                    <a:p>
                      <a:r>
                        <a:rPr sz="1725" b="1">
                          <a:solidFill>
                            <a:srgbClr val="12314C"/>
                          </a:solidFill>
                          <a:latin typeface="Arial"/>
                          <a:ea typeface="Arial"/>
                          <a:cs typeface="Arial"/>
                        </a:rPr>
                        <a:t>Analysis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No</a:t>
                      </a:r>
                    </a:p>
                  </a:txBody>
                  <a:tcPr marL="91440" marR="91440" marT="45720" marB="45720">
                    <a:solidFill>
                      <a:srgbClr val="FFFFFF"/>
                    </a:solidFill>
                  </a:tcPr>
                </a:tc>
              </a:tr>
              <a:tr h="581025">
                <a:tc>
                  <a:txBody>
                    <a:bodyPr/>
                    <a:lstStyle/>
                    <a:p>
                      <a:r>
                        <a:rPr sz="1725" b="1">
                          <a:solidFill>
                            <a:srgbClr val="12314C"/>
                          </a:solidFill>
                          <a:latin typeface="Arial"/>
                          <a:ea typeface="Arial"/>
                          <a:cs typeface="Arial"/>
                        </a:rPr>
                        <a:t>Engineer</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Yes</a:t>
                      </a:r>
                    </a:p>
                  </a:txBody>
                  <a:tcPr marL="91440" marR="91440" marT="45720" marB="45720">
                    <a:solidFill>
                      <a:srgbClr val="F1F6FB"/>
                    </a:solidFill>
                  </a:tcPr>
                </a:tc>
                <a:tc>
                  <a:txBody>
                    <a:bodyPr/>
                    <a:lstStyle/>
                    <a:p>
                      <a:r>
                        <a:rPr sz="1725" b="0">
                          <a:solidFill>
                            <a:srgbClr val="12314C"/>
                          </a:solidFill>
                          <a:latin typeface="Arial"/>
                          <a:ea typeface="Arial"/>
                          <a:cs typeface="Arial"/>
                        </a:rPr>
                        <a:t>No</a:t>
                      </a:r>
                    </a:p>
                  </a:txBody>
                  <a:tcPr marL="91440" marR="91440" marT="45720" marB="45720">
                    <a:solidFill>
                      <a:srgbClr val="F1F6FB"/>
                    </a:solidFill>
                  </a:tcPr>
                </a:tc>
              </a:tr>
              <a:tr h="581025">
                <a:tc>
                  <a:txBody>
                    <a:bodyPr/>
                    <a:lstStyle/>
                    <a:p>
                      <a:r>
                        <a:rPr sz="1725" b="1">
                          <a:solidFill>
                            <a:srgbClr val="12314C"/>
                          </a:solidFill>
                          <a:latin typeface="Arial"/>
                          <a:ea typeface="Arial"/>
                          <a:cs typeface="Arial"/>
                        </a:rPr>
                        <a:t>Viewer</a:t>
                      </a:r>
                    </a:p>
                  </a:txBody>
                  <a:tcPr marL="91440" marR="91440" marT="45720" marB="45720">
                    <a:solidFill>
                      <a:srgbClr val="FFFFFF"/>
                    </a:solidFill>
                  </a:tcPr>
                </a:tc>
                <a:tc>
                  <a:txBody>
                    <a:bodyPr/>
                    <a:lstStyle/>
                    <a:p>
                      <a:r>
                        <a:rPr sz="1725" b="0">
                          <a:solidFill>
                            <a:srgbClr val="12314C"/>
                          </a:solidFill>
                          <a:latin typeface="Arial"/>
                          <a:ea typeface="Arial"/>
                          <a:cs typeface="Arial"/>
                        </a:rPr>
                        <a:t>Yes</a:t>
                      </a:r>
                    </a:p>
                  </a:txBody>
                  <a:tcPr marL="91440" marR="91440" marT="45720" marB="45720">
                    <a:solidFill>
                      <a:srgbClr val="FFFFFF"/>
                    </a:solidFill>
                  </a:tcPr>
                </a:tc>
                <a:tc>
                  <a:txBody>
                    <a:bodyPr/>
                    <a:lstStyle/>
                    <a:p>
                      <a:r>
                        <a:rPr sz="1725" b="0">
                          <a:solidFill>
                            <a:srgbClr val="12314C"/>
                          </a:solidFill>
                          <a:latin typeface="Arial"/>
                          <a:ea typeface="Arial"/>
                          <a:cs typeface="Arial"/>
                        </a:rPr>
                        <a:t>No</a:t>
                      </a:r>
                    </a:p>
                  </a:txBody>
                  <a:tcPr marL="91440" marR="91440" marT="45720" marB="45720">
                    <a:solidFill>
                      <a:srgbClr val="FFFFFF"/>
                    </a:solidFill>
                  </a:tcPr>
                </a:tc>
                <a:tc>
                  <a:txBody>
                    <a:bodyPr/>
                    <a:lstStyle/>
                    <a:p>
                      <a:r>
                        <a:rPr sz="1725" b="0">
                          <a:solidFill>
                            <a:srgbClr val="12314C"/>
                          </a:solidFill>
                          <a:latin typeface="Arial"/>
                          <a:ea typeface="Arial"/>
                          <a:cs typeface="Arial"/>
                        </a:rPr>
                        <a:t>No</a:t>
                      </a:r>
                    </a:p>
                  </a:txBody>
                  <a:tcPr marL="91440" marR="91440" marT="45720" marB="45720">
                    <a:solidFill>
                      <a:srgbClr val="FFFFFF"/>
                    </a:solidFill>
                  </a:tcPr>
                </a:tc>
                <a:tc>
                  <a:txBody>
                    <a:bodyPr/>
                    <a:lstStyle/>
                    <a:p>
                      <a:r>
                        <a:rPr sz="1725" b="0">
                          <a:solidFill>
                            <a:srgbClr val="12314C"/>
                          </a:solidFill>
                          <a:latin typeface="Arial"/>
                          <a:ea typeface="Arial"/>
                          <a:cs typeface="Arial"/>
                        </a:rPr>
                        <a:t>No</a:t>
                      </a:r>
                    </a:p>
                  </a:txBody>
                  <a:tcPr marL="91440" marR="91440" marT="45720" marB="45720">
                    <a:solidFill>
                      <a:srgbClr val="FFFFFF"/>
                    </a:solidFill>
                  </a:tcPr>
                </a:tc>
              </a:tr>
            </a:tbl>
          </a:graphicData>
        </a:graphic>
      </p:graphicFrame>
      <p:sp>
        <p:nvSpPr>
          <p:cNvPr id="9" name="Visibility controls what users see. Permissio">
            <a:extLst xmlns:a="http://schemas.openxmlformats.org/drawingml/2006/main">
              <a:ext uri="{FF2B5EF4-FFF2-40B4-BE49-F238E27FC236}">
                <a16:creationId xmlns:a16="http://schemas.microsoft.com/office/drawing/2014/main" id="{BE755352-4BB2-4E09-8773-BEC1ED0828B3}"/>
              </a:ext>
            </a:extLst>
          </p:cNvPr>
          <p:cNvSpPr>
            <a:spLocks xmlns:a="http://schemas.openxmlformats.org/drawingml/2006/main" noGrp="1"/>
          </p:cNvSpPr>
          <p:nvPr/>
        </p:nvSpPr>
        <p:spPr>
          <a:xfrm xmlns:a="http://schemas.openxmlformats.org/drawingml/2006/main">
            <a:off x="533400" y="606742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5BCB"/>
                </a:solidFill>
                <a:latin typeface="Arial"/>
                <a:ea typeface="Arial"/>
                <a:cs typeface="Arial"/>
              </a:defRPr>
            </a:pPr>
            <a:r>
              <a:rPr sz="1725" b="1">
                <a:solidFill>
                  <a:srgbClr val="005BCB"/>
                </a:solidFill>
                <a:latin typeface="Arial"/>
                <a:ea typeface="Arial"/>
                <a:cs typeface="Arial"/>
              </a:rPr>
              <a:t>Visibility controls what users see. Permissions control what they can do.</a:t>
            </a:r>
          </a:p>
        </p:txBody>
      </p:sp>
    </p:spTree>
    <p:extLst>
      <p:ext uri="{BB962C8B-B14F-4D97-AF65-F5344CB8AC3E}">
        <p14:creationId xmlns:p14="http://schemas.microsoft.com/office/powerpoint/2010/main" val="186287157"/>
      </p:ext>
    </p:extLst>
  </p:cSld>
  <p:transition spd="slow" advClick="1">
    <p:fade/>
  </p:transition>
</p:sld>
</file>

<file path=ppt/slides/slide12.xml><?xml version="1.0" encoding="utf-8"?>
<p:sld xmlns:p="http://schemas.openxmlformats.org/presentationml/2006/main">
  <p:cSld>
    <p:bg>
      <p:bgPr>
        <a:solidFill xmlns:a="http://schemas.openxmlformats.org/drawingml/2006/main">
          <a:srgbClr val="071B32"/>
        </a:solidFill>
      </p:bgPr>
    </p:bg>
    <p:spTree>
      <p:nvGrpSpPr>
        <p:cNvPr id="1" name=""/>
        <p:cNvGrpSpPr/>
        <p:nvPr/>
      </p:nvGrpSpPr>
      <p:grpSpPr>
        <a:xfrm xmlns:a="http://schemas.openxmlformats.org/drawingml/2006/main"/>
      </p:grpSpPr>
      <p:sp>
        <p:nvSpPr>
          <p:cNvPr id="14" name="NEXT STEPS">
            <a:extLst xmlns:a="http://schemas.openxmlformats.org/drawingml/2006/main">
              <a:ext uri="{FF2B5EF4-FFF2-40B4-BE49-F238E27FC236}">
                <a16:creationId xmlns:a16="http://schemas.microsoft.com/office/drawing/2014/main" id="{BB2BA86A-F7E6-485A-B136-15299F7CB6C7}"/>
              </a:ext>
            </a:extLst>
          </p:cNvPr>
          <p:cNvSpPr>
            <a:spLocks xmlns:a="http://schemas.openxmlformats.org/drawingml/2006/main" noGrp="1"/>
          </p:cNvSpPr>
          <p:nvPr/>
        </p:nvSpPr>
        <p:spPr>
          <a:xfrm xmlns:a="http://schemas.openxmlformats.org/drawingml/2006/main">
            <a:off x="533400" y="323850"/>
            <a:ext cx="889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9D9EF"/>
                </a:solidFill>
                <a:latin typeface="Arial"/>
                <a:ea typeface="Arial"/>
                <a:cs typeface="Arial"/>
              </a:defRPr>
            </a:pPr>
            <a:r>
              <a:rPr sz="1275" b="1">
                <a:solidFill>
                  <a:srgbClr val="A9D9EF"/>
                </a:solidFill>
                <a:latin typeface="Arial"/>
                <a:ea typeface="Arial"/>
                <a:cs typeface="Arial"/>
              </a:rPr>
              <a:t>NEXT STEPS</a:t>
            </a:r>
          </a:p>
        </p:txBody>
      </p:sp>
      <p:sp>
        <p:nvSpPr>
          <p:cNvPr id="2" name="The path to a production pilot">
            <a:extLst xmlns:a="http://schemas.openxmlformats.org/drawingml/2006/main">
              <a:ext uri="{FF2B5EF4-FFF2-40B4-BE49-F238E27FC236}">
                <a16:creationId xmlns:a16="http://schemas.microsoft.com/office/drawing/2014/main" id="{9150FCE1-1DBC-4CCB-9C73-ADB7361288D4}"/>
              </a:ext>
            </a:extLst>
          </p:cNvPr>
          <p:cNvSpPr>
            <a:spLocks xmlns:a="http://schemas.openxmlformats.org/drawingml/2006/main" noGrp="1"/>
          </p:cNvSpPr>
          <p:nvPr/>
        </p:nvSpPr>
        <p:spPr>
          <a:xfrm xmlns:a="http://schemas.openxmlformats.org/drawingml/2006/main">
            <a:off x="533400" y="8667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path to a production pilot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07e6913f9444d6d"/>
          <a:stretch xmlns:a="http://schemas.openxmlformats.org/drawingml/2006/main"/>
        </p:blipFill>
        <p:spPr>
          <a:xfrm xmlns:a="http://schemas.openxmlformats.org/drawingml/2006/main">
            <a:off x="9906000" y="290451"/>
            <a:ext cx="1752600" cy="314448"/>
          </a:xfrm>
          <a:prstGeom xmlns:a="http://schemas.openxmlformats.org/drawingml/2006/main" prst="rect">
            <a:avLst/>
          </a:prstGeom>
        </p:spPr>
      </p:pic>
      <p:sp>
        <p:nvSpPr>
          <p:cNvPr id="4" name="IntelliPath  /  Connected resource workspace">
            <a:extLst xmlns:a="http://schemas.openxmlformats.org/drawingml/2006/main">
              <a:ext uri="{FF2B5EF4-FFF2-40B4-BE49-F238E27FC236}">
                <a16:creationId xmlns:a16="http://schemas.microsoft.com/office/drawing/2014/main" id="{7AFD188A-A3AD-42D7-BF53-F89C030003F9}"/>
              </a:ext>
            </a:extLst>
          </p:cNvPr>
          <p:cNvSpPr>
            <a:spLocks xmlns:a="http://schemas.openxmlformats.org/drawingml/2006/main" noGrp="1"/>
          </p:cNvSpPr>
          <p:nvPr/>
        </p:nvSpPr>
        <p:spPr>
          <a:xfrm xmlns:a="http://schemas.openxmlformats.org/drawingml/2006/main">
            <a:off x="533400" y="64674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A6B9CB"/>
                </a:solidFill>
                <a:latin typeface="Arial"/>
                <a:ea typeface="Arial"/>
                <a:cs typeface="Arial"/>
              </a:defRPr>
            </a:pPr>
            <a:r>
              <a:rPr sz="1050" b="0">
                <a:solidFill>
                  <a:srgbClr val="A6B9CB"/>
                </a:solidFill>
                <a:latin typeface="Arial"/>
                <a:ea typeface="Arial"/>
                <a:cs typeface="Arial"/>
              </a:rPr>
              <a:t>IntelliPath  /  Connected resource workspace</a:t>
            </a:r>
          </a:p>
        </p:txBody>
      </p:sp>
      <p:sp>
        <p:nvSpPr>
          <p:cNvPr id="5" name="12">
            <a:extLst xmlns:a="http://schemas.openxmlformats.org/drawingml/2006/main">
              <a:ext uri="{FF2B5EF4-FFF2-40B4-BE49-F238E27FC236}">
                <a16:creationId xmlns:a16="http://schemas.microsoft.com/office/drawing/2014/main" id="{A0020D31-D5DA-4709-B382-F31FE3591FDB}"/>
              </a:ext>
            </a:extLst>
          </p:cNvPr>
          <p:cNvSpPr>
            <a:spLocks xmlns:a="http://schemas.openxmlformats.org/drawingml/2006/main" noGrp="1"/>
          </p:cNvSpPr>
          <p:nvPr/>
        </p:nvSpPr>
        <p:spPr>
          <a:xfrm xmlns:a="http://schemas.openxmlformats.org/drawingml/2006/main">
            <a:off x="11315700" y="64389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6B9CB"/>
                </a:solidFill>
                <a:latin typeface="Arial"/>
                <a:ea typeface="Arial"/>
                <a:cs typeface="Arial"/>
              </a:defRPr>
            </a:pPr>
            <a:r>
              <a:rPr sz="1275" b="0">
                <a:solidFill>
                  <a:srgbClr val="A6B9CB"/>
                </a:solidFill>
                <a:latin typeface="Arial"/>
                <a:ea typeface="Arial"/>
                <a:cs typeface="Arial"/>
              </a:rPr>
              <a:t>12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7f06aaf042d471e"/>
          <a:srcRect xmlns:a="http://schemas.openxmlformats.org/drawingml/2006/main" l="14477" t="0" r="14477" b="0"/>
          <a:stretch xmlns:a="http://schemas.openxmlformats.org/drawingml/2006/main">
            <a:fillRect l="0" t="0" r="0" b="0"/>
          </a:stretch>
        </p:blipFill>
        <p:spPr>
          <a:xfrm xmlns:a="http://schemas.openxmlformats.org/drawingml/2006/main">
            <a:off x="6800850" y="1743075"/>
            <a:ext cx="4857750" cy="3848100"/>
          </a:xfrm>
          <a:prstGeom xmlns:a="http://schemas.openxmlformats.org/drawingml/2006/main" prst="rect">
            <a:avLst/>
          </a:prstGeom>
        </p:spPr>
      </p:pic>
      <p:sp>
        <p:nvSpPr>
          <p:cNvPr id="7" name="Validate the work">
            <a:extLst xmlns:a="http://schemas.openxmlformats.org/drawingml/2006/main">
              <a:ext uri="{FF2B5EF4-FFF2-40B4-BE49-F238E27FC236}">
                <a16:creationId xmlns:a16="http://schemas.microsoft.com/office/drawing/2014/main" id="{B715CDC0-9451-4992-A374-351E7D6B2D61}"/>
              </a:ext>
            </a:extLst>
          </p:cNvPr>
          <p:cNvSpPr>
            <a:spLocks xmlns:a="http://schemas.openxmlformats.org/drawingml/2006/main" noGrp="1"/>
          </p:cNvSpPr>
          <p:nvPr/>
        </p:nvSpPr>
        <p:spPr>
          <a:xfrm xmlns:a="http://schemas.openxmlformats.org/drawingml/2006/main">
            <a:off x="533400" y="194310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Validate the work</a:t>
            </a:r>
          </a:p>
        </p:txBody>
      </p:sp>
      <p:sp>
        <p:nvSpPr>
          <p:cNvPr id="8" name="Test search and reporting journeys with real ">
            <a:extLst xmlns:a="http://schemas.openxmlformats.org/drawingml/2006/main">
              <a:ext uri="{FF2B5EF4-FFF2-40B4-BE49-F238E27FC236}">
                <a16:creationId xmlns:a16="http://schemas.microsoft.com/office/drawing/2014/main" id="{C26838B5-F63A-4EF3-A7F0-CC115400589A}"/>
              </a:ext>
            </a:extLst>
          </p:cNvPr>
          <p:cNvSpPr>
            <a:spLocks xmlns:a="http://schemas.openxmlformats.org/drawingml/2006/main" noGrp="1"/>
          </p:cNvSpPr>
          <p:nvPr/>
        </p:nvSpPr>
        <p:spPr>
          <a:xfrm xmlns:a="http://schemas.openxmlformats.org/drawingml/2006/main">
            <a:off x="533400" y="2400300"/>
            <a:ext cx="5781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CD0E0"/>
                </a:solidFill>
                <a:latin typeface="Arial"/>
                <a:ea typeface="Arial"/>
                <a:cs typeface="Arial"/>
              </a:defRPr>
            </a:pPr>
            <a:r>
              <a:rPr sz="1875" b="0">
                <a:solidFill>
                  <a:srgbClr val="BCD0E0"/>
                </a:solidFill>
                <a:latin typeface="Arial"/>
                <a:ea typeface="Arial"/>
                <a:cs typeface="Arial"/>
              </a:rPr>
              <a:t>Test search and reporting journeys with real users.</a:t>
            </a:r>
          </a:p>
        </p:txBody>
      </p:sp>
      <p:sp>
        <p:nvSpPr>
          <p:cNvPr id="9" name="Prepare the data">
            <a:extLst xmlns:a="http://schemas.openxmlformats.org/drawingml/2006/main">
              <a:ext uri="{FF2B5EF4-FFF2-40B4-BE49-F238E27FC236}">
                <a16:creationId xmlns:a16="http://schemas.microsoft.com/office/drawing/2014/main" id="{0397568E-6C31-43AC-B964-8A069B46CD99}"/>
              </a:ext>
            </a:extLst>
          </p:cNvPr>
          <p:cNvSpPr>
            <a:spLocks xmlns:a="http://schemas.openxmlformats.org/drawingml/2006/main" noGrp="1"/>
          </p:cNvSpPr>
          <p:nvPr/>
        </p:nvSpPr>
        <p:spPr>
          <a:xfrm xmlns:a="http://schemas.openxmlformats.org/drawingml/2006/main">
            <a:off x="533400" y="320040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Prepare the data</a:t>
            </a:r>
          </a:p>
        </p:txBody>
      </p:sp>
      <p:sp>
        <p:nvSpPr>
          <p:cNvPr id="10" name="Replace sample records and establish durable ">
            <a:extLst xmlns:a="http://schemas.openxmlformats.org/drawingml/2006/main">
              <a:ext uri="{FF2B5EF4-FFF2-40B4-BE49-F238E27FC236}">
                <a16:creationId xmlns:a16="http://schemas.microsoft.com/office/drawing/2014/main" id="{9D74AF39-4FCF-4DEB-A1BE-DDEACAD622BD}"/>
              </a:ext>
            </a:extLst>
          </p:cNvPr>
          <p:cNvSpPr>
            <a:spLocks xmlns:a="http://schemas.openxmlformats.org/drawingml/2006/main" noGrp="1"/>
          </p:cNvSpPr>
          <p:nvPr/>
        </p:nvSpPr>
        <p:spPr>
          <a:xfrm xmlns:a="http://schemas.openxmlformats.org/drawingml/2006/main">
            <a:off x="533400" y="3657600"/>
            <a:ext cx="5781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CD0E0"/>
                </a:solidFill>
                <a:latin typeface="Arial"/>
                <a:ea typeface="Arial"/>
                <a:cs typeface="Arial"/>
              </a:defRPr>
            </a:pPr>
            <a:r>
              <a:rPr sz="1875" b="0">
                <a:solidFill>
                  <a:srgbClr val="BCD0E0"/>
                </a:solidFill>
                <a:latin typeface="Arial"/>
                <a:ea typeface="Arial"/>
                <a:cs typeface="Arial"/>
              </a:rPr>
              <a:t>Replace sample records and establish durable storage.</a:t>
            </a:r>
          </a:p>
        </p:txBody>
      </p:sp>
      <p:sp>
        <p:nvSpPr>
          <p:cNvPr id="11" name="Connect approved systems">
            <a:extLst xmlns:a="http://schemas.openxmlformats.org/drawingml/2006/main">
              <a:ext uri="{FF2B5EF4-FFF2-40B4-BE49-F238E27FC236}">
                <a16:creationId xmlns:a16="http://schemas.microsoft.com/office/drawing/2014/main" id="{B26BB176-8D3C-4CD6-A340-9F34F63BF822}"/>
              </a:ext>
            </a:extLst>
          </p:cNvPr>
          <p:cNvSpPr>
            <a:spLocks xmlns:a="http://schemas.openxmlformats.org/drawingml/2006/main" noGrp="1"/>
          </p:cNvSpPr>
          <p:nvPr/>
        </p:nvSpPr>
        <p:spPr>
          <a:xfrm xmlns:a="http://schemas.openxmlformats.org/drawingml/2006/main">
            <a:off x="533400" y="445770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Connect approved systems</a:t>
            </a:r>
          </a:p>
        </p:txBody>
      </p:sp>
      <p:sp>
        <p:nvSpPr>
          <p:cNvPr id="12" name="Plan identity, Microsoft sources and location">
            <a:extLst xmlns:a="http://schemas.openxmlformats.org/drawingml/2006/main">
              <a:ext uri="{FF2B5EF4-FFF2-40B4-BE49-F238E27FC236}">
                <a16:creationId xmlns:a16="http://schemas.microsoft.com/office/drawing/2014/main" id="{56E4AD33-D31D-4F49-A250-AED8FB01E938}"/>
              </a:ext>
            </a:extLst>
          </p:cNvPr>
          <p:cNvSpPr>
            <a:spLocks xmlns:a="http://schemas.openxmlformats.org/drawingml/2006/main" noGrp="1"/>
          </p:cNvSpPr>
          <p:nvPr/>
        </p:nvSpPr>
        <p:spPr>
          <a:xfrm xmlns:a="http://schemas.openxmlformats.org/drawingml/2006/main">
            <a:off x="533400" y="4914900"/>
            <a:ext cx="5781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CD0E0"/>
                </a:solidFill>
                <a:latin typeface="Arial"/>
                <a:ea typeface="Arial"/>
                <a:cs typeface="Arial"/>
              </a:defRPr>
            </a:pPr>
            <a:r>
              <a:rPr sz="1875" b="0">
                <a:solidFill>
                  <a:srgbClr val="BCD0E0"/>
                </a:solidFill>
                <a:latin typeface="Arial"/>
                <a:ea typeface="Arial"/>
                <a:cs typeface="Arial"/>
              </a:rPr>
              <a:t>Plan identity, Microsoft sources and location consent.</a:t>
            </a:r>
          </a:p>
        </p:txBody>
      </p:sp>
      <p:sp>
        <p:nvSpPr>
          <p:cNvPr id="13" name="intellipath-mroh.onrender.com">
            <a:extLst xmlns:a="http://schemas.openxmlformats.org/drawingml/2006/main">
              <a:ext uri="{FF2B5EF4-FFF2-40B4-BE49-F238E27FC236}">
                <a16:creationId xmlns:a16="http://schemas.microsoft.com/office/drawing/2014/main" id="{FADC1DD6-DE35-497F-B53A-1479CF1CA11A}"/>
              </a:ext>
            </a:extLst>
          </p:cNvPr>
          <p:cNvSpPr>
            <a:spLocks xmlns:a="http://schemas.openxmlformats.org/drawingml/2006/main" noGrp="1"/>
          </p:cNvSpPr>
          <p:nvPr/>
        </p:nvSpPr>
        <p:spPr>
          <a:xfrm xmlns:a="http://schemas.openxmlformats.org/drawingml/2006/main">
            <a:off x="533400" y="59340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hlinkClick xmlns:r="http://schemas.openxmlformats.org/officeDocument/2006/relationships" r:id="R463df4d2dd294b9d"/>
              </a:rPr>
              <a:t>intellipath-mroh.onrender.com</a:t>
            </a:r>
          </a:p>
        </p:txBody>
      </p:sp>
    </p:spTree>
    <p:extLst>
      <p:ext uri="{BB962C8B-B14F-4D97-AF65-F5344CB8AC3E}">
        <p14:creationId xmlns:p14="http://schemas.microsoft.com/office/powerpoint/2010/main" val="1900018052"/>
      </p:ext>
    </p:extLst>
  </p:cSld>
  <p:transition spd="slow"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2026-09-23T11:30:09.2100000Z</dcterms:created>
  <dcterms:modified xsi:type="dcterms:W3CDTF">2026-09-23T11:30:09.2110000Z</dcterms:modified>
</coreProperties>
</file>